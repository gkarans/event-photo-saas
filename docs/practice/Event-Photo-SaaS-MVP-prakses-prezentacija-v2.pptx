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3eec9e864a45d5" /><Relationship Type="http://schemas.openxmlformats.org/officeDocument/2006/relationships/extended-properties" Target="/docProps/app.xml" Id="R3608fcaa290f4b35" /><Relationship Type="http://schemas.openxmlformats.org/officeDocument/2006/relationships/officeDocument" Target="/ppt/presentation.xml" Id="Rb3c88504166b4bf6" /></Relationships>
</file>

<file path=ppt/presentation.xml><?xml version="1.0" encoding="utf-8"?>
<p:presentation xmlns:p="http://schemas.openxmlformats.org/presentationml/2006/main">
  <p:sldMasterIdLst>
    <p:sldMasterId xmlns:r="http://schemas.openxmlformats.org/officeDocument/2006/relationships" id="2147483648" r:id="R758dd4f14f314d6b"/>
  </p:sldMasterIdLst>
  <p:notesMasterIdLst>
    <p:notesMasterId xmlns:r="http://schemas.openxmlformats.org/officeDocument/2006/relationships" r:id="R41cc9391f8504cc3"/>
  </p:notesMasterIdLst>
  <p:sldIdLst>
    <p:sldId xmlns:r="http://schemas.openxmlformats.org/officeDocument/2006/relationships" id="256" r:id="R7fa55c83d9884567"/>
    <p:sldId xmlns:r="http://schemas.openxmlformats.org/officeDocument/2006/relationships" id="257" r:id="R79db887bcb12437a"/>
    <p:sldId xmlns:r="http://schemas.openxmlformats.org/officeDocument/2006/relationships" id="258" r:id="Rb74f4a20426a4f43"/>
    <p:sldId xmlns:r="http://schemas.openxmlformats.org/officeDocument/2006/relationships" id="259" r:id="Rb8181eb2f6b54978"/>
    <p:sldId xmlns:r="http://schemas.openxmlformats.org/officeDocument/2006/relationships" id="260" r:id="Rd5374b4ac6cc4399"/>
    <p:sldId xmlns:r="http://schemas.openxmlformats.org/officeDocument/2006/relationships" id="261" r:id="R8d34371398334919"/>
    <p:sldId xmlns:r="http://schemas.openxmlformats.org/officeDocument/2006/relationships" id="262" r:id="R44f50bb67f92440d"/>
    <p:sldId xmlns:r="http://schemas.openxmlformats.org/officeDocument/2006/relationships" id="263" r:id="R57164bf92f864c26"/>
    <p:sldId xmlns:r="http://schemas.openxmlformats.org/officeDocument/2006/relationships" id="264" r:id="R03c2f333d6a04b9b"/>
    <p:sldId xmlns:r="http://schemas.openxmlformats.org/officeDocument/2006/relationships" id="265" r:id="R3cbbdfbc960a42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fd9d0c795649a9" /><Relationship Type="http://schemas.openxmlformats.org/officeDocument/2006/relationships/slideMaster" Target="/ppt/slideMasters/slideMaster1.xml" Id="R758dd4f14f314d6b" /><Relationship Type="http://schemas.openxmlformats.org/officeDocument/2006/relationships/notesMaster" Target="/ppt/notesMasters/notesMaster1.xml" Id="R41cc9391f8504cc3" /><Relationship Type="http://schemas.openxmlformats.org/officeDocument/2006/relationships/presProps" Target="/ppt/presProps.xml" Id="Rcf1e9b5d42aa4837" /><Relationship Type="http://schemas.openxmlformats.org/officeDocument/2006/relationships/tableStyles" Target="/ppt/tableStyles.xml" Id="Rf8e875f2a6664296" /><Relationship Type="http://schemas.openxmlformats.org/officeDocument/2006/relationships/slide" Target="/ppt/slides/slide1.xml" Id="R7fa55c83d9884567" /><Relationship Type="http://schemas.openxmlformats.org/officeDocument/2006/relationships/slide" Target="/ppt/slides/slide2.xml" Id="R79db887bcb12437a" /><Relationship Type="http://schemas.openxmlformats.org/officeDocument/2006/relationships/slide" Target="/ppt/slides/slide3.xml" Id="Rb74f4a20426a4f43" /><Relationship Type="http://schemas.openxmlformats.org/officeDocument/2006/relationships/slide" Target="/ppt/slides/slide4.xml" Id="Rb8181eb2f6b54978" /><Relationship Type="http://schemas.openxmlformats.org/officeDocument/2006/relationships/slide" Target="/ppt/slides/slide5.xml" Id="Rd5374b4ac6cc4399" /><Relationship Type="http://schemas.openxmlformats.org/officeDocument/2006/relationships/slide" Target="/ppt/slides/slide6.xml" Id="R8d34371398334919" /><Relationship Type="http://schemas.openxmlformats.org/officeDocument/2006/relationships/slide" Target="/ppt/slides/slide7.xml" Id="R44f50bb67f92440d" /><Relationship Type="http://schemas.openxmlformats.org/officeDocument/2006/relationships/slide" Target="/ppt/slides/slide8.xml" Id="R57164bf92f864c26" /><Relationship Type="http://schemas.openxmlformats.org/officeDocument/2006/relationships/slide" Target="/ppt/slides/slide9.xml" Id="R03c2f333d6a04b9b" /><Relationship Type="http://schemas.openxmlformats.org/officeDocument/2006/relationships/slide" Target="/ppt/slides/slide10.xml" Id="R3cbbdfbc960a42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676702630548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0a5b1b590d4a90" /><Relationship Type="http://schemas.openxmlformats.org/officeDocument/2006/relationships/notesMaster" Target="/ppt/notesMasters/notesMaster1.xml" Id="R9dbfe03597a24a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6442a8dc914763" /><Relationship Type="http://schemas.openxmlformats.org/officeDocument/2006/relationships/notesMaster" Target="/ppt/notesMasters/notesMaster1.xml" Id="R7a345cc7f339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2f35bf124741cc" /><Relationship Type="http://schemas.openxmlformats.org/officeDocument/2006/relationships/notesMaster" Target="/ppt/notesMasters/notesMaster1.xml" Id="R4938518b59a744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a4769077f04b65" /><Relationship Type="http://schemas.openxmlformats.org/officeDocument/2006/relationships/notesMaster" Target="/ppt/notesMasters/notesMaster1.xml" Id="Rbc7264f5bdd14a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df4c22f2c54a86" /><Relationship Type="http://schemas.openxmlformats.org/officeDocument/2006/relationships/notesMaster" Target="/ppt/notesMasters/notesMaster1.xml" Id="R8f936609d6f443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5051bd49884c00" /><Relationship Type="http://schemas.openxmlformats.org/officeDocument/2006/relationships/notesMaster" Target="/ppt/notesMasters/notesMaster1.xml" Id="R96a9ce61aeb646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71019c81464ed9" /><Relationship Type="http://schemas.openxmlformats.org/officeDocument/2006/relationships/notesMaster" Target="/ppt/notesMasters/notesMaster1.xml" Id="R010be8af6bf143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05ea49b6e542bf" /><Relationship Type="http://schemas.openxmlformats.org/officeDocument/2006/relationships/notesMaster" Target="/ppt/notesMasters/notesMaster1.xml" Id="R21eb2d87d2764b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bebddd0a454286" /><Relationship Type="http://schemas.openxmlformats.org/officeDocument/2006/relationships/notesMaster" Target="/ppt/notesMasters/notesMaster1.xml" Id="Re65f997fd0f54d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38c3878cec4783" /><Relationship Type="http://schemas.openxmlformats.org/officeDocument/2006/relationships/notesMaster" Target="/ppt/notesMasters/notesMaster1.xml" Id="Re2cd75dca4f946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Ievadā 30 sekundēs nosauc problēmu un risinājumu. Uzsver, ka produkts ir photo-only un viesim nav jāveido konts. Galvenais demonstrējamais rezultāts ir pilna plūsma no QR līdz organizatora galerijai.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 jautā par produkta mērķi: viesim vajag pēc iespējas mazāk soļu. Nav pilna konta, nav video un nav foto redaktora. Tas samazina gan lietošanas sarežģītību, gan storage un testēšanas apjomu.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Demonstrācijas laikā vispirms parādi organizatora eventa detaļas un QR, pēc tam telefonā viesa plūsmu. Paskaidro, ka Delete event ir arhivēšana, bet atsevišķa foto dzēšana ir autorizēta fiziska failu dzēšana.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Svarīgā aizstāvēšanas atbilde: autentifikāciju dara Supabase Auth, bet autorizācija nav tikai Auth. RLS aizsargā tabulu rindas, savukārt Worker pirms privāta faila operācijas pārbauda lietotāju un eventa piederību. R2 ir failu glabātuve, nevis datubāze.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 pedagogs jautā par UUID: UUID nav parole. Drošību nodrošina RLS un Worker. Ja jautā par CORS: tas ierobežo pārlūka origin, bet API tik un tā jāpārbauda JWT, eventa piederība, periods un ceļš. Ekrānattēlā redzams, ka R2 Public Access ir Disabled.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Šī ir galvenā programmētāja līmeņa atbilde. `media` apraksta foto, bet `r2_objects` katru fizisko objektu. Worker izdod presigned PUT tikai pēc servera RPC validācijas. Checksum palīdz pārliecināties, ka R2 nonāca tie paši baiti, kas tika rezervēti.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Šeit parādi, ka sistēma nav tikai makets. Tartu trīs dienu pasākumā 17 dalībnieki pievienoja 57 foto. Iepriekšējā praktiskajā testā 12 viesi pievienoja 60 foto. Testi palīdzēja atrast mobilās kameras atgriešanās un galerijas veiktspējas problēmas.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Testi negarantē kļūdu neesamību. Automatizētie testi pārbauda konkrētus scenārijus un robežas; tie nepierāda production secrets vai mobilās kameras uzvedību. Tāpēc tika veikta atsevišķa iPhone un Android production pārbaude.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 jautā par grūtāko darbu, izvēlies vienu no šiem piemēriem un izstāsti: kā tika novērots simptoms, kurā slānī atrasts cēlonis, kāds bija labojums un kā tika novērsta atkārtošanās. Netlify kļūda bija `Unexpected build output: netlify.toml`; R2 ceļos drošība saglabāta ar UUID.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Noslēgumā nesaki, ka sistēma ir bez kļūdām. Saki, ka MVP galvenā plūsma ir pabeigta un pārbaudīta, drošības robežas atrodas servera pusē, bet nākamie soļi ir staging, slodzes testi, monitorings, servera eksports un automatizēta retention tīrīšana.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15608603bb48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267186e19047e2" /><Relationship Type="http://schemas.openxmlformats.org/officeDocument/2006/relationships/slideLayout" Target="/ppt/slideLayouts/slideLayout1.xml" Id="Rebc63cd51dee44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c63cd51dee44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11489b82324759" /><Relationship Type="http://schemas.openxmlformats.org/officeDocument/2006/relationships/image" Target="/ppt/media/image.png" Id="Rbf4929d65e6848bb" /><Relationship Type="http://schemas.openxmlformats.org/officeDocument/2006/relationships/notesSlide" Target="/ppt/notesSlides/notesSlide1.xml" Id="R30ade07e8f9b4b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eaa15afb484544" /><Relationship Type="http://schemas.openxmlformats.org/officeDocument/2006/relationships/image" Target="/ppt/media/image2.png" Id="R508041f4d91d47fc" /><Relationship Type="http://schemas.openxmlformats.org/officeDocument/2006/relationships/notesSlide" Target="/ppt/notesSlides/notesSlide2.xml" Id="Rb72d90c1284049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084c1721034037" /><Relationship Type="http://schemas.openxmlformats.org/officeDocument/2006/relationships/notesSlide" Target="/ppt/notesSlides/notesSlide3.xml" Id="Rccf003dc976749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f8436ffe3a4350" /><Relationship Type="http://schemas.openxmlformats.org/officeDocument/2006/relationships/notesSlide" Target="/ppt/notesSlides/notesSlide4.xml" Id="Rc8c4b25c28834f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48221e4fb9431e" /><Relationship Type="http://schemas.openxmlformats.org/officeDocument/2006/relationships/image" Target="/ppt/media/image3.png" Id="R1f570ccd748a4294" /><Relationship Type="http://schemas.openxmlformats.org/officeDocument/2006/relationships/notesSlide" Target="/ppt/notesSlides/notesSlide5.xml" Id="R5fa795e5d30842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b038edc0084e4a" /><Relationship Type="http://schemas.openxmlformats.org/officeDocument/2006/relationships/notesSlide" Target="/ppt/notesSlides/notesSlide6.xml" Id="R56de6f852dec43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987f16328f4ab4" /><Relationship Type="http://schemas.openxmlformats.org/officeDocument/2006/relationships/image" Target="/ppt/media/image4.png" Id="R16c177a5bd674eb0" /><Relationship Type="http://schemas.openxmlformats.org/officeDocument/2006/relationships/image" Target="/ppt/media/image5.png" Id="R4d055a8a12ed4ed2" /><Relationship Type="http://schemas.openxmlformats.org/officeDocument/2006/relationships/notesSlide" Target="/ppt/notesSlides/notesSlide7.xml" Id="R1bb97acd2d1146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ba3d85a20d417d" /><Relationship Type="http://schemas.openxmlformats.org/officeDocument/2006/relationships/notesSlide" Target="/ppt/notesSlides/notesSlide8.xml" Id="Rfacb4dcb2b2d4e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de1b1ec96d4425" /><Relationship Type="http://schemas.openxmlformats.org/officeDocument/2006/relationships/image" Target="/ppt/media/image6.png" Id="R72d34705c99c4ef3" /><Relationship Type="http://schemas.openxmlformats.org/officeDocument/2006/relationships/image" Target="/ppt/media/image7.png" Id="Rf0d30eeeba0d403f" /><Relationship Type="http://schemas.openxmlformats.org/officeDocument/2006/relationships/notesSlide" Target="/ppt/notesSlides/notesSlide9.xml" Id="Recd73c58e39b44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5b85e2cc09499f" /><Relationship Type="http://schemas.openxmlformats.org/officeDocument/2006/relationships/notesSlide" Target="/ppt/notesSlides/notesSlide10.xml" Id="R1bb568fcde674530" /></Relationships>
</file>

<file path=ppt/slides/slide1.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f4929d65e6848bb"/>
          <a:srcRect xmlns:a="http://schemas.openxmlformats.org/drawingml/2006/main" l="10152" t="0" r="10152"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oundRect">
            <a:avLst>
              <a:gd name="adj" fmla="val 1859"/>
            </a:avLst>
          </a:prstGeom>
        </p:spPr>
      </p:pic>
      <p:sp>
        <p:nvSpPr>
          <p:cNvPr id="2" name="">
            <a:extLst xmlns:a="http://schemas.openxmlformats.org/drawingml/2006/main">
              <a:ext uri="{FF2B5EF4-FFF2-40B4-BE49-F238E27FC236}">
                <a16:creationId xmlns:a16="http://schemas.microsoft.com/office/drawing/2014/main" id="{F8D874DB-76FB-43AB-BD05-D89A0C7D1D8B}"/>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0B111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C917F4-95E1-4FD3-BA99-79CC8D3AA8EA}"/>
              </a:ext>
            </a:extLst>
          </p:cNvPr>
          <p:cNvSpPr>
            <a:spLocks xmlns:a="http://schemas.openxmlformats.org/drawingml/2006/main" noGrp="1"/>
          </p:cNvSpPr>
          <p:nvPr/>
        </p:nvSpPr>
        <p:spPr>
          <a:xfrm xmlns:a="http://schemas.openxmlformats.org/drawingml/2006/main">
            <a:off x="609600" y="723900"/>
            <a:ext cx="552450" cy="571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4D5F70-40E6-4000-8D46-B39A585E6AC2}"/>
              </a:ext>
            </a:extLst>
          </p:cNvPr>
          <p:cNvSpPr>
            <a:spLocks xmlns:a="http://schemas.openxmlformats.org/drawingml/2006/main" noGrp="1"/>
          </p:cNvSpPr>
          <p:nvPr/>
        </p:nvSpPr>
        <p:spPr>
          <a:xfrm xmlns:a="http://schemas.openxmlformats.org/drawingml/2006/main">
            <a:off x="609600" y="10668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a:solidFill>
                  <a:srgbClr val="F7FBF8"/>
                </a:solidFill>
                <a:latin typeface="Arial"/>
                <a:ea typeface="Arial"/>
                <a:cs typeface="Arial"/>
              </a:defRPr>
            </a:pPr>
            <a:r>
              <a:rPr sz="4050" b="1">
                <a:solidFill>
                  <a:srgbClr val="F7FBF8"/>
                </a:solidFill>
                <a:latin typeface="Arial"/>
                <a:ea typeface="Arial"/>
                <a:cs typeface="Arial"/>
              </a:rPr>
              <a:t>EVENT PHOTO SAAS</a:t>
            </a:r>
          </a:p>
        </p:txBody>
      </p:sp>
      <p:sp>
        <p:nvSpPr>
          <p:cNvPr id="5" name="">
            <a:extLst xmlns:a="http://schemas.openxmlformats.org/drawingml/2006/main">
              <a:ext uri="{FF2B5EF4-FFF2-40B4-BE49-F238E27FC236}">
                <a16:creationId xmlns:a16="http://schemas.microsoft.com/office/drawing/2014/main" id="{5C890642-568B-4A03-AB4C-A9FE4DE235E4}"/>
              </a:ext>
            </a:extLst>
          </p:cNvPr>
          <p:cNvSpPr>
            <a:spLocks xmlns:a="http://schemas.openxmlformats.org/drawingml/2006/main" noGrp="1"/>
          </p:cNvSpPr>
          <p:nvPr/>
        </p:nvSpPr>
        <p:spPr>
          <a:xfrm xmlns:a="http://schemas.openxmlformats.org/drawingml/2006/main">
            <a:off x="609600" y="1981200"/>
            <a:ext cx="5524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B8F2D1"/>
                </a:solidFill>
                <a:latin typeface="Arial"/>
                <a:ea typeface="Arial"/>
                <a:cs typeface="Arial"/>
              </a:defRPr>
            </a:pPr>
            <a:r>
              <a:rPr sz="2100" b="1">
                <a:solidFill>
                  <a:srgbClr val="B8F2D1"/>
                </a:solidFill>
                <a:latin typeface="Arial"/>
                <a:ea typeface="Arial"/>
                <a:cs typeface="Arial"/>
              </a:rPr>
              <a:t>Photo-only MVP pasākumu kopīgai galerijai</a:t>
            </a:r>
          </a:p>
        </p:txBody>
      </p:sp>
      <p:sp>
        <p:nvSpPr>
          <p:cNvPr id="6" name="">
            <a:extLst xmlns:a="http://schemas.openxmlformats.org/drawingml/2006/main">
              <a:ext uri="{FF2B5EF4-FFF2-40B4-BE49-F238E27FC236}">
                <a16:creationId xmlns:a16="http://schemas.microsoft.com/office/drawing/2014/main" id="{F2F48F1A-2602-457E-A36E-FF6710F5BDC2}"/>
              </a:ext>
            </a:extLst>
          </p:cNvPr>
          <p:cNvSpPr>
            <a:spLocks xmlns:a="http://schemas.openxmlformats.org/drawingml/2006/main" noGrp="1"/>
          </p:cNvSpPr>
          <p:nvPr/>
        </p:nvSpPr>
        <p:spPr>
          <a:xfrm xmlns:a="http://schemas.openxmlformats.org/drawingml/2006/main">
            <a:off x="609600" y="30289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AFC0B8"/>
                </a:solidFill>
                <a:latin typeface="Arial"/>
                <a:ea typeface="Arial"/>
                <a:cs typeface="Arial"/>
              </a:defRPr>
            </a:pPr>
            <a:r>
              <a:rPr sz="1500" b="0">
                <a:solidFill>
                  <a:srgbClr val="AFC0B8"/>
                </a:solidFill>
                <a:latin typeface="Arial"/>
                <a:ea typeface="Arial"/>
                <a:cs typeface="Arial"/>
              </a:rPr>
              <a:t>Prakses darba tehniskā prezentācija</a:t>
            </a:r>
          </a:p>
        </p:txBody>
      </p:sp>
      <p:sp>
        <p:nvSpPr>
          <p:cNvPr id="7" name="">
            <a:extLst xmlns:a="http://schemas.openxmlformats.org/drawingml/2006/main">
              <a:ext uri="{FF2B5EF4-FFF2-40B4-BE49-F238E27FC236}">
                <a16:creationId xmlns:a16="http://schemas.microsoft.com/office/drawing/2014/main" id="{09D38F52-6AB5-42FE-B91D-246CFBF50F31}"/>
              </a:ext>
            </a:extLst>
          </p:cNvPr>
          <p:cNvSpPr>
            <a:spLocks xmlns:a="http://schemas.openxmlformats.org/drawingml/2006/main" noGrp="1"/>
          </p:cNvSpPr>
          <p:nvPr/>
        </p:nvSpPr>
        <p:spPr>
          <a:xfrm xmlns:a="http://schemas.openxmlformats.org/drawingml/2006/main">
            <a:off x="609600" y="3905250"/>
            <a:ext cx="11239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8" name="">
            <a:extLst xmlns:a="http://schemas.openxmlformats.org/drawingml/2006/main">
              <a:ext uri="{FF2B5EF4-FFF2-40B4-BE49-F238E27FC236}">
                <a16:creationId xmlns:a16="http://schemas.microsoft.com/office/drawing/2014/main" id="{53B85680-21BC-4703-B442-1CD0FE247096}"/>
              </a:ext>
            </a:extLst>
          </p:cNvPr>
          <p:cNvSpPr>
            <a:spLocks xmlns:a="http://schemas.openxmlformats.org/drawingml/2006/main" noGrp="1"/>
          </p:cNvSpPr>
          <p:nvPr/>
        </p:nvSpPr>
        <p:spPr>
          <a:xfrm xmlns:a="http://schemas.openxmlformats.org/drawingml/2006/main">
            <a:off x="704850" y="3971925"/>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NETLIFY</a:t>
            </a:r>
          </a:p>
        </p:txBody>
      </p:sp>
      <p:sp>
        <p:nvSpPr>
          <p:cNvPr id="9" name="">
            <a:extLst xmlns:a="http://schemas.openxmlformats.org/drawingml/2006/main">
              <a:ext uri="{FF2B5EF4-FFF2-40B4-BE49-F238E27FC236}">
                <a16:creationId xmlns:a16="http://schemas.microsoft.com/office/drawing/2014/main" id="{06B165E0-703D-455C-AE73-845D1105EB37}"/>
              </a:ext>
            </a:extLst>
          </p:cNvPr>
          <p:cNvSpPr>
            <a:spLocks xmlns:a="http://schemas.openxmlformats.org/drawingml/2006/main" noGrp="1"/>
          </p:cNvSpPr>
          <p:nvPr/>
        </p:nvSpPr>
        <p:spPr>
          <a:xfrm xmlns:a="http://schemas.openxmlformats.org/drawingml/2006/main">
            <a:off x="1847850" y="3905250"/>
            <a:ext cx="12573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0" name="">
            <a:extLst xmlns:a="http://schemas.openxmlformats.org/drawingml/2006/main">
              <a:ext uri="{FF2B5EF4-FFF2-40B4-BE49-F238E27FC236}">
                <a16:creationId xmlns:a16="http://schemas.microsoft.com/office/drawing/2014/main" id="{DDA85BF6-3A6B-4962-8CD6-5E46B27CCF58}"/>
              </a:ext>
            </a:extLst>
          </p:cNvPr>
          <p:cNvSpPr>
            <a:spLocks xmlns:a="http://schemas.openxmlformats.org/drawingml/2006/main" noGrp="1"/>
          </p:cNvSpPr>
          <p:nvPr/>
        </p:nvSpPr>
        <p:spPr>
          <a:xfrm xmlns:a="http://schemas.openxmlformats.org/drawingml/2006/main">
            <a:off x="1943100" y="3971925"/>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SUPABASE</a:t>
            </a:r>
          </a:p>
        </p:txBody>
      </p:sp>
      <p:sp>
        <p:nvSpPr>
          <p:cNvPr id="11" name="">
            <a:extLst xmlns:a="http://schemas.openxmlformats.org/drawingml/2006/main">
              <a:ext uri="{FF2B5EF4-FFF2-40B4-BE49-F238E27FC236}">
                <a16:creationId xmlns:a16="http://schemas.microsoft.com/office/drawing/2014/main" id="{5B3F720B-E9B6-4710-A18A-39E94241058F}"/>
              </a:ext>
            </a:extLst>
          </p:cNvPr>
          <p:cNvSpPr>
            <a:spLocks xmlns:a="http://schemas.openxmlformats.org/drawingml/2006/main" noGrp="1"/>
          </p:cNvSpPr>
          <p:nvPr/>
        </p:nvSpPr>
        <p:spPr>
          <a:xfrm xmlns:a="http://schemas.openxmlformats.org/drawingml/2006/main">
            <a:off x="3219450" y="3905250"/>
            <a:ext cx="15811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2" name="">
            <a:extLst xmlns:a="http://schemas.openxmlformats.org/drawingml/2006/main">
              <a:ext uri="{FF2B5EF4-FFF2-40B4-BE49-F238E27FC236}">
                <a16:creationId xmlns:a16="http://schemas.microsoft.com/office/drawing/2014/main" id="{A4386353-5061-4E2E-AEE0-EF3B8000223E}"/>
              </a:ext>
            </a:extLst>
          </p:cNvPr>
          <p:cNvSpPr>
            <a:spLocks xmlns:a="http://schemas.openxmlformats.org/drawingml/2006/main" noGrp="1"/>
          </p:cNvSpPr>
          <p:nvPr/>
        </p:nvSpPr>
        <p:spPr>
          <a:xfrm xmlns:a="http://schemas.openxmlformats.org/drawingml/2006/main">
            <a:off x="3314700" y="3971925"/>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CLOUDFLARE R2</a:t>
            </a:r>
          </a:p>
        </p:txBody>
      </p:sp>
      <p:sp>
        <p:nvSpPr>
          <p:cNvPr id="13" name="">
            <a:extLst xmlns:a="http://schemas.openxmlformats.org/drawingml/2006/main">
              <a:ext uri="{FF2B5EF4-FFF2-40B4-BE49-F238E27FC236}">
                <a16:creationId xmlns:a16="http://schemas.microsoft.com/office/drawing/2014/main" id="{380AAB3F-ECE2-4193-8006-C237685CAFD4}"/>
              </a:ext>
            </a:extLst>
          </p:cNvPr>
          <p:cNvSpPr>
            <a:spLocks xmlns:a="http://schemas.openxmlformats.org/drawingml/2006/main" noGrp="1"/>
          </p:cNvSpPr>
          <p:nvPr/>
        </p:nvSpPr>
        <p:spPr>
          <a:xfrm xmlns:a="http://schemas.openxmlformats.org/drawingml/2006/main">
            <a:off x="609600" y="49530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Galvenā vērtība</a:t>
            </a:r>
          </a:p>
        </p:txBody>
      </p:sp>
      <p:sp>
        <p:nvSpPr>
          <p:cNvPr id="14" name="">
            <a:extLst xmlns:a="http://schemas.openxmlformats.org/drawingml/2006/main">
              <a:ext uri="{FF2B5EF4-FFF2-40B4-BE49-F238E27FC236}">
                <a16:creationId xmlns:a16="http://schemas.microsoft.com/office/drawing/2014/main" id="{B3FD42D4-BE61-4372-AB60-395E39C356D9}"/>
              </a:ext>
            </a:extLst>
          </p:cNvPr>
          <p:cNvSpPr>
            <a:spLocks xmlns:a="http://schemas.openxmlformats.org/drawingml/2006/main" noGrp="1"/>
          </p:cNvSpPr>
          <p:nvPr/>
        </p:nvSpPr>
        <p:spPr>
          <a:xfrm xmlns:a="http://schemas.openxmlformats.org/drawingml/2006/main">
            <a:off x="609600" y="5257800"/>
            <a:ext cx="571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7FBF8"/>
                </a:solidFill>
                <a:latin typeface="Arial"/>
                <a:ea typeface="Arial"/>
                <a:cs typeface="Arial"/>
              </a:defRPr>
            </a:pPr>
            <a:r>
              <a:rPr sz="1875" b="1">
                <a:solidFill>
                  <a:srgbClr val="F7FBF8"/>
                </a:solidFill>
                <a:latin typeface="Arial"/>
                <a:ea typeface="Arial"/>
                <a:cs typeface="Arial"/>
              </a:rPr>
              <a:t>Viens QR kods → viesu foto → viena privāta galerija</a:t>
            </a:r>
          </a:p>
        </p:txBody>
      </p:sp>
      <p:sp>
        <p:nvSpPr>
          <p:cNvPr id="15" name="">
            <a:extLst xmlns:a="http://schemas.openxmlformats.org/drawingml/2006/main">
              <a:ext uri="{FF2B5EF4-FFF2-40B4-BE49-F238E27FC236}">
                <a16:creationId xmlns:a16="http://schemas.microsoft.com/office/drawing/2014/main" id="{B8641721-EBF2-4264-BA10-C12A88CA2033}"/>
              </a:ext>
            </a:extLst>
          </p:cNvPr>
          <p:cNvSpPr>
            <a:spLocks xmlns:a="http://schemas.openxmlformats.org/drawingml/2006/main" noGrp="1"/>
          </p:cNvSpPr>
          <p:nvPr/>
        </p:nvSpPr>
        <p:spPr>
          <a:xfrm xmlns:a="http://schemas.openxmlformats.org/drawingml/2006/main">
            <a:off x="609600" y="628650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AFC0B8"/>
                </a:solidFill>
                <a:latin typeface="Arial"/>
                <a:ea typeface="Arial"/>
                <a:cs typeface="Arial"/>
              </a:defRPr>
            </a:pPr>
            <a:r>
              <a:rPr sz="975" b="1">
                <a:solidFill>
                  <a:srgbClr val="AFC0B8"/>
                </a:solidFill>
                <a:latin typeface="Arial"/>
                <a:ea typeface="Arial"/>
                <a:cs typeface="Arial"/>
              </a:rPr>
              <a:t>2026</a:t>
            </a:r>
          </a:p>
        </p:txBody>
      </p:sp>
    </p:spTree>
    <p:extLst>
      <p:ext uri="{BB962C8B-B14F-4D97-AF65-F5344CB8AC3E}">
        <p14:creationId xmlns:p14="http://schemas.microsoft.com/office/powerpoint/2010/main" val="902209217"/>
      </p:ext>
    </p:extLst>
  </p:cSld>
</p:sld>
</file>

<file path=ppt/slides/slide2.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7CE395-ED7C-4322-86B4-6CF67FF5B6D6}"/>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01 · PROBLĒMA</a:t>
            </a:r>
          </a:p>
        </p:txBody>
      </p:sp>
      <p:sp>
        <p:nvSpPr>
          <p:cNvPr id="2" name="">
            <a:extLst xmlns:a="http://schemas.openxmlformats.org/drawingml/2006/main">
              <a:ext uri="{FF2B5EF4-FFF2-40B4-BE49-F238E27FC236}">
                <a16:creationId xmlns:a16="http://schemas.microsoft.com/office/drawing/2014/main" id="{12CFAA58-4274-44C3-A443-FC8AA05F9C7E}"/>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Fotogrāfijas vairs nepaliek 17 telefonos</a:t>
            </a:r>
          </a:p>
        </p:txBody>
      </p:sp>
      <p:sp>
        <p:nvSpPr>
          <p:cNvPr id="3" name="">
            <a:extLst xmlns:a="http://schemas.openxmlformats.org/drawingml/2006/main">
              <a:ext uri="{FF2B5EF4-FFF2-40B4-BE49-F238E27FC236}">
                <a16:creationId xmlns:a16="http://schemas.microsoft.com/office/drawing/2014/main" id="{54108671-F2A1-44BB-A82E-8A1D67143085}"/>
              </a:ext>
            </a:extLst>
          </p:cNvPr>
          <p:cNvSpPr>
            <a:spLocks xmlns:a="http://schemas.openxmlformats.org/drawingml/2006/main" noGrp="1"/>
          </p:cNvSpPr>
          <p:nvPr/>
        </p:nvSpPr>
        <p:spPr>
          <a:xfrm xmlns:a="http://schemas.openxmlformats.org/drawingml/2006/main">
            <a:off x="609600" y="13049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FC0B8"/>
                </a:solidFill>
                <a:latin typeface="Arial"/>
                <a:ea typeface="Arial"/>
                <a:cs typeface="Arial"/>
              </a:defRPr>
            </a:pPr>
            <a:r>
              <a:rPr sz="1425" b="0">
                <a:solidFill>
                  <a:srgbClr val="AFC0B8"/>
                </a:solidFill>
                <a:latin typeface="Arial"/>
                <a:ea typeface="Arial"/>
                <a:cs typeface="Arial"/>
              </a:rPr>
              <a:t>MVP savāc pasākuma foto vienuviet bez viesu kontiem.</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08041f4d91d47fc"/>
          <a:srcRect xmlns:a="http://schemas.openxmlformats.org/drawingml/2006/main" l="0" t="8577" r="0" b="8577"/>
          <a:stretch xmlns:a="http://schemas.openxmlformats.org/drawingml/2006/main">
            <a:fillRect l="0" t="0" r="0" b="0"/>
          </a:stretch>
        </p:blipFill>
        <p:spPr>
          <a:xfrm xmlns:a="http://schemas.openxmlformats.org/drawingml/2006/main">
            <a:off x="7143750" y="1809750"/>
            <a:ext cx="4095750" cy="4095750"/>
          </a:xfrm>
          <a:prstGeom xmlns:a="http://schemas.openxmlformats.org/drawingml/2006/main" prst="roundRect">
            <a:avLst>
              <a:gd name="adj" fmla="val 2326"/>
            </a:avLst>
          </a:prstGeom>
        </p:spPr>
      </p:pic>
      <p:sp>
        <p:nvSpPr>
          <p:cNvPr id="5" name="">
            <a:extLst xmlns:a="http://schemas.openxmlformats.org/drawingml/2006/main">
              <a:ext uri="{FF2B5EF4-FFF2-40B4-BE49-F238E27FC236}">
                <a16:creationId xmlns:a16="http://schemas.microsoft.com/office/drawing/2014/main" id="{4FEE6D83-8814-4500-B363-4019465F4265}"/>
              </a:ext>
            </a:extLst>
          </p:cNvPr>
          <p:cNvSpPr>
            <a:spLocks xmlns:a="http://schemas.openxmlformats.org/drawingml/2006/main" noGrp="1"/>
          </p:cNvSpPr>
          <p:nvPr/>
        </p:nvSpPr>
        <p:spPr>
          <a:xfrm xmlns:a="http://schemas.openxmlformats.org/drawingml/2006/main">
            <a:off x="609600" y="2047875"/>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4C95D"/>
                </a:solidFill>
                <a:latin typeface="Arial"/>
                <a:ea typeface="Arial"/>
                <a:cs typeface="Arial"/>
              </a:defRPr>
            </a:pPr>
            <a:r>
              <a:rPr sz="1050" b="1">
                <a:solidFill>
                  <a:srgbClr val="F4C95D"/>
                </a:solidFill>
                <a:latin typeface="Arial"/>
                <a:ea typeface="Arial"/>
                <a:cs typeface="Arial"/>
              </a:rPr>
              <a:t>Pirms</a:t>
            </a:r>
          </a:p>
        </p:txBody>
      </p:sp>
      <p:sp>
        <p:nvSpPr>
          <p:cNvPr id="6" name="">
            <a:extLst xmlns:a="http://schemas.openxmlformats.org/drawingml/2006/main">
              <a:ext uri="{FF2B5EF4-FFF2-40B4-BE49-F238E27FC236}">
                <a16:creationId xmlns:a16="http://schemas.microsoft.com/office/drawing/2014/main" id="{03093ABB-2FC0-425D-8145-C1E579FE4AEE}"/>
              </a:ext>
            </a:extLst>
          </p:cNvPr>
          <p:cNvSpPr>
            <a:spLocks xmlns:a="http://schemas.openxmlformats.org/drawingml/2006/main" noGrp="1"/>
          </p:cNvSpPr>
          <p:nvPr/>
        </p:nvSpPr>
        <p:spPr>
          <a:xfrm xmlns:a="http://schemas.openxmlformats.org/drawingml/2006/main">
            <a:off x="609600" y="236220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7FBF8"/>
                </a:solidFill>
                <a:latin typeface="Arial"/>
                <a:ea typeface="Arial"/>
                <a:cs typeface="Arial"/>
              </a:defRPr>
            </a:pPr>
            <a:r>
              <a:rPr sz="2250" b="1">
                <a:solidFill>
                  <a:srgbClr val="F7FBF8"/>
                </a:solidFill>
                <a:latin typeface="Arial"/>
                <a:ea typeface="Arial"/>
                <a:cs typeface="Arial"/>
              </a:rPr>
              <a:t>WhatsApp, e-pasti, nesūtīti faili un kvalitātes zudums.</a:t>
            </a:r>
          </a:p>
        </p:txBody>
      </p:sp>
      <p:sp>
        <p:nvSpPr>
          <p:cNvPr id="7" name="">
            <a:extLst xmlns:a="http://schemas.openxmlformats.org/drawingml/2006/main">
              <a:ext uri="{FF2B5EF4-FFF2-40B4-BE49-F238E27FC236}">
                <a16:creationId xmlns:a16="http://schemas.microsoft.com/office/drawing/2014/main" id="{F700B4F3-D2A6-4C57-91AC-1DF276BAE468}"/>
              </a:ext>
            </a:extLst>
          </p:cNvPr>
          <p:cNvSpPr>
            <a:spLocks xmlns:a="http://schemas.openxmlformats.org/drawingml/2006/main" noGrp="1"/>
          </p:cNvSpPr>
          <p:nvPr/>
        </p:nvSpPr>
        <p:spPr>
          <a:xfrm xmlns:a="http://schemas.openxmlformats.org/drawingml/2006/main">
            <a:off x="609600" y="34480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Pēc</a:t>
            </a:r>
          </a:p>
        </p:txBody>
      </p:sp>
      <p:sp>
        <p:nvSpPr>
          <p:cNvPr id="8" name="">
            <a:extLst xmlns:a="http://schemas.openxmlformats.org/drawingml/2006/main">
              <a:ext uri="{FF2B5EF4-FFF2-40B4-BE49-F238E27FC236}">
                <a16:creationId xmlns:a16="http://schemas.microsoft.com/office/drawing/2014/main" id="{6F801C70-6E03-4643-9572-92962901FAA2}"/>
              </a:ext>
            </a:extLst>
          </p:cNvPr>
          <p:cNvSpPr>
            <a:spLocks xmlns:a="http://schemas.openxmlformats.org/drawingml/2006/main" noGrp="1"/>
          </p:cNvSpPr>
          <p:nvPr/>
        </p:nvSpPr>
        <p:spPr>
          <a:xfrm xmlns:a="http://schemas.openxmlformats.org/drawingml/2006/main">
            <a:off x="609600" y="3762375"/>
            <a:ext cx="5524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F7FBF8"/>
                </a:solidFill>
                <a:latin typeface="Arial"/>
                <a:ea typeface="Arial"/>
                <a:cs typeface="Arial"/>
              </a:defRPr>
            </a:pPr>
            <a:r>
              <a:rPr sz="2175" b="1">
                <a:solidFill>
                  <a:srgbClr val="F7FBF8"/>
                </a:solidFill>
                <a:latin typeface="Arial"/>
                <a:ea typeface="Arial"/>
                <a:cs typeface="Arial"/>
              </a:rPr>
              <a:t>QR saite atver kameru, foto tiek optimizēts un nonāk kopīgajā galerijā.</a:t>
            </a:r>
          </a:p>
        </p:txBody>
      </p:sp>
      <p:sp>
        <p:nvSpPr>
          <p:cNvPr id="9" name="">
            <a:extLst xmlns:a="http://schemas.openxmlformats.org/drawingml/2006/main">
              <a:ext uri="{FF2B5EF4-FFF2-40B4-BE49-F238E27FC236}">
                <a16:creationId xmlns:a16="http://schemas.microsoft.com/office/drawing/2014/main" id="{00FAD1A2-C6D2-48E8-A9F3-2C599DDC0224}"/>
              </a:ext>
            </a:extLst>
          </p:cNvPr>
          <p:cNvSpPr>
            <a:spLocks xmlns:a="http://schemas.openxmlformats.org/drawingml/2006/main" noGrp="1"/>
          </p:cNvSpPr>
          <p:nvPr/>
        </p:nvSpPr>
        <p:spPr>
          <a:xfrm xmlns:a="http://schemas.openxmlformats.org/drawingml/2006/main">
            <a:off x="609600" y="5219700"/>
            <a:ext cx="17526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0" name="">
            <a:extLst xmlns:a="http://schemas.openxmlformats.org/drawingml/2006/main">
              <a:ext uri="{FF2B5EF4-FFF2-40B4-BE49-F238E27FC236}">
                <a16:creationId xmlns:a16="http://schemas.microsoft.com/office/drawing/2014/main" id="{51B81759-8C1D-4C5C-8DC4-F31830441321}"/>
              </a:ext>
            </a:extLst>
          </p:cNvPr>
          <p:cNvSpPr>
            <a:spLocks xmlns:a="http://schemas.openxmlformats.org/drawingml/2006/main" noGrp="1"/>
          </p:cNvSpPr>
          <p:nvPr/>
        </p:nvSpPr>
        <p:spPr>
          <a:xfrm xmlns:a="http://schemas.openxmlformats.org/drawingml/2006/main">
            <a:off x="704850" y="5286375"/>
            <a:ext cx="1562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BEZ VIESA KONTA</a:t>
            </a:r>
          </a:p>
        </p:txBody>
      </p:sp>
      <p:sp>
        <p:nvSpPr>
          <p:cNvPr id="11" name="">
            <a:extLst xmlns:a="http://schemas.openxmlformats.org/drawingml/2006/main">
              <a:ext uri="{FF2B5EF4-FFF2-40B4-BE49-F238E27FC236}">
                <a16:creationId xmlns:a16="http://schemas.microsoft.com/office/drawing/2014/main" id="{4C40E337-FC7C-4217-A410-61376835FE5B}"/>
              </a:ext>
            </a:extLst>
          </p:cNvPr>
          <p:cNvSpPr>
            <a:spLocks xmlns:a="http://schemas.openxmlformats.org/drawingml/2006/main" noGrp="1"/>
          </p:cNvSpPr>
          <p:nvPr/>
        </p:nvSpPr>
        <p:spPr>
          <a:xfrm xmlns:a="http://schemas.openxmlformats.org/drawingml/2006/main">
            <a:off x="2495550" y="5219700"/>
            <a:ext cx="14668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2" name="">
            <a:extLst xmlns:a="http://schemas.openxmlformats.org/drawingml/2006/main">
              <a:ext uri="{FF2B5EF4-FFF2-40B4-BE49-F238E27FC236}">
                <a16:creationId xmlns:a16="http://schemas.microsoft.com/office/drawing/2014/main" id="{4EE76D82-1A48-409B-AD21-C1CA9FC3E831}"/>
              </a:ext>
            </a:extLst>
          </p:cNvPr>
          <p:cNvSpPr>
            <a:spLocks xmlns:a="http://schemas.openxmlformats.org/drawingml/2006/main" noGrp="1"/>
          </p:cNvSpPr>
          <p:nvPr/>
        </p:nvSpPr>
        <p:spPr>
          <a:xfrm xmlns:a="http://schemas.openxmlformats.org/drawingml/2006/main">
            <a:off x="2590800" y="5286375"/>
            <a:ext cx="1276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6ED6DA"/>
                </a:solidFill>
                <a:latin typeface="Arial"/>
                <a:ea typeface="Arial"/>
                <a:cs typeface="Arial"/>
              </a:defRPr>
            </a:pPr>
            <a:r>
              <a:rPr sz="975" b="1">
                <a:solidFill>
                  <a:srgbClr val="6ED6DA"/>
                </a:solidFill>
                <a:latin typeface="Arial"/>
                <a:ea typeface="Arial"/>
                <a:cs typeface="Arial"/>
              </a:rPr>
              <a:t>MOBILE-FIRST</a:t>
            </a:r>
          </a:p>
        </p:txBody>
      </p:sp>
      <p:sp>
        <p:nvSpPr>
          <p:cNvPr id="13" name="">
            <a:extLst xmlns:a="http://schemas.openxmlformats.org/drawingml/2006/main">
              <a:ext uri="{FF2B5EF4-FFF2-40B4-BE49-F238E27FC236}">
                <a16:creationId xmlns:a16="http://schemas.microsoft.com/office/drawing/2014/main" id="{826F8479-5DDA-40AA-B2E6-CD7A641C00DE}"/>
              </a:ext>
            </a:extLst>
          </p:cNvPr>
          <p:cNvSpPr>
            <a:spLocks xmlns:a="http://schemas.openxmlformats.org/drawingml/2006/main" noGrp="1"/>
          </p:cNvSpPr>
          <p:nvPr/>
        </p:nvSpPr>
        <p:spPr>
          <a:xfrm xmlns:a="http://schemas.openxmlformats.org/drawingml/2006/main">
            <a:off x="4095750" y="5219700"/>
            <a:ext cx="13525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4" name="">
            <a:extLst xmlns:a="http://schemas.openxmlformats.org/drawingml/2006/main">
              <a:ext uri="{FF2B5EF4-FFF2-40B4-BE49-F238E27FC236}">
                <a16:creationId xmlns:a16="http://schemas.microsoft.com/office/drawing/2014/main" id="{9F12F740-C8B6-4A40-98D6-7636305EFC85}"/>
              </a:ext>
            </a:extLst>
          </p:cNvPr>
          <p:cNvSpPr>
            <a:spLocks xmlns:a="http://schemas.openxmlformats.org/drawingml/2006/main" noGrp="1"/>
          </p:cNvSpPr>
          <p:nvPr/>
        </p:nvSpPr>
        <p:spPr>
          <a:xfrm xmlns:a="http://schemas.openxmlformats.org/drawingml/2006/main">
            <a:off x="4191000" y="5286375"/>
            <a:ext cx="1162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4C95D"/>
                </a:solidFill>
                <a:latin typeface="Arial"/>
                <a:ea typeface="Arial"/>
                <a:cs typeface="Arial"/>
              </a:defRPr>
            </a:pPr>
            <a:r>
              <a:rPr sz="975" b="1">
                <a:solidFill>
                  <a:srgbClr val="F4C95D"/>
                </a:solidFill>
                <a:latin typeface="Arial"/>
                <a:ea typeface="Arial"/>
                <a:cs typeface="Arial"/>
              </a:rPr>
              <a:t>PHOTO-ONLY</a:t>
            </a:r>
          </a:p>
        </p:txBody>
      </p:sp>
      <p:sp>
        <p:nvSpPr>
          <p:cNvPr id="15" name="">
            <a:extLst xmlns:a="http://schemas.openxmlformats.org/drawingml/2006/main">
              <a:ext uri="{FF2B5EF4-FFF2-40B4-BE49-F238E27FC236}">
                <a16:creationId xmlns:a16="http://schemas.microsoft.com/office/drawing/2014/main" id="{54DD0F77-E998-465D-920F-F9AA8EFAF9CC}"/>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0EF0277-BC87-41B5-8A41-0D25390CD826}"/>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17" name="">
            <a:extLst xmlns:a="http://schemas.openxmlformats.org/drawingml/2006/main">
              <a:ext uri="{FF2B5EF4-FFF2-40B4-BE49-F238E27FC236}">
                <a16:creationId xmlns:a16="http://schemas.microsoft.com/office/drawing/2014/main" id="{FEEAD6A3-B602-4B27-993D-53C2D15854F4}"/>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02</a:t>
            </a:r>
          </a:p>
        </p:txBody>
      </p:sp>
    </p:spTree>
    <p:extLst>
      <p:ext uri="{BB962C8B-B14F-4D97-AF65-F5344CB8AC3E}">
        <p14:creationId xmlns:p14="http://schemas.microsoft.com/office/powerpoint/2010/main" val="1609258021"/>
      </p:ext>
    </p:extLst>
  </p:cSld>
</p:sld>
</file>

<file path=ppt/slides/slide3.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AC0E213-BAAC-4E88-8B8F-45FFFC28653A}"/>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02 · LIETOTĀJU PLŪSMAS</a:t>
            </a:r>
          </a:p>
        </p:txBody>
      </p:sp>
      <p:sp>
        <p:nvSpPr>
          <p:cNvPr id="2" name="">
            <a:extLst xmlns:a="http://schemas.openxmlformats.org/drawingml/2006/main">
              <a:ext uri="{FF2B5EF4-FFF2-40B4-BE49-F238E27FC236}">
                <a16:creationId xmlns:a16="http://schemas.microsoft.com/office/drawing/2014/main" id="{3608DD56-BFF4-4D98-8166-6E137294FA3B}"/>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Divas lomas, viena kontrolēta ķēde</a:t>
            </a:r>
          </a:p>
        </p:txBody>
      </p:sp>
      <p:sp>
        <p:nvSpPr>
          <p:cNvPr id="3" name="">
            <a:extLst xmlns:a="http://schemas.openxmlformats.org/drawingml/2006/main">
              <a:ext uri="{FF2B5EF4-FFF2-40B4-BE49-F238E27FC236}">
                <a16:creationId xmlns:a16="http://schemas.microsoft.com/office/drawing/2014/main" id="{43C47612-B300-4F32-BA0A-8670C8C24DE7}"/>
              </a:ext>
            </a:extLst>
          </p:cNvPr>
          <p:cNvSpPr>
            <a:spLocks xmlns:a="http://schemas.openxmlformats.org/drawingml/2006/main" noGrp="1"/>
          </p:cNvSpPr>
          <p:nvPr/>
        </p:nvSpPr>
        <p:spPr>
          <a:xfrm xmlns:a="http://schemas.openxmlformats.org/drawingml/2006/main">
            <a:off x="609600" y="18478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ORGANIZATORS</a:t>
            </a:r>
          </a:p>
        </p:txBody>
      </p:sp>
      <p:sp>
        <p:nvSpPr>
          <p:cNvPr id="4" name="">
            <a:extLst xmlns:a="http://schemas.openxmlformats.org/drawingml/2006/main">
              <a:ext uri="{FF2B5EF4-FFF2-40B4-BE49-F238E27FC236}">
                <a16:creationId xmlns:a16="http://schemas.microsoft.com/office/drawing/2014/main" id="{137070D9-4C1E-4135-9B9F-19C6629ED3C4}"/>
              </a:ext>
            </a:extLst>
          </p:cNvPr>
          <p:cNvSpPr>
            <a:spLocks xmlns:a="http://schemas.openxmlformats.org/drawingml/2006/main" noGrp="1"/>
          </p:cNvSpPr>
          <p:nvPr/>
        </p:nvSpPr>
        <p:spPr>
          <a:xfrm xmlns:a="http://schemas.openxmlformats.org/drawingml/2006/main">
            <a:off x="6515100" y="18478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ED6DA"/>
                </a:solidFill>
                <a:latin typeface="Arial"/>
                <a:ea typeface="Arial"/>
                <a:cs typeface="Arial"/>
              </a:defRPr>
            </a:pPr>
            <a:r>
              <a:rPr sz="1050" b="1">
                <a:solidFill>
                  <a:srgbClr val="6ED6DA"/>
                </a:solidFill>
                <a:latin typeface="Arial"/>
                <a:ea typeface="Arial"/>
                <a:cs typeface="Arial"/>
              </a:rPr>
              <a:t>VIESIS</a:t>
            </a:r>
          </a:p>
        </p:txBody>
      </p:sp>
      <p:sp>
        <p:nvSpPr>
          <p:cNvPr id="5" name="">
            <a:extLst xmlns:a="http://schemas.openxmlformats.org/drawingml/2006/main">
              <a:ext uri="{FF2B5EF4-FFF2-40B4-BE49-F238E27FC236}">
                <a16:creationId xmlns:a16="http://schemas.microsoft.com/office/drawing/2014/main" id="{6E0B6464-08B6-486E-93A7-586E759AB1FF}"/>
              </a:ext>
            </a:extLst>
          </p:cNvPr>
          <p:cNvSpPr>
            <a:spLocks xmlns:a="http://schemas.openxmlformats.org/drawingml/2006/main" noGrp="1"/>
          </p:cNvSpPr>
          <p:nvPr/>
        </p:nvSpPr>
        <p:spPr>
          <a:xfrm xmlns:a="http://schemas.openxmlformats.org/drawingml/2006/main">
            <a:off x="609600" y="230505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6" name="">
            <a:extLst xmlns:a="http://schemas.openxmlformats.org/drawingml/2006/main">
              <a:ext uri="{FF2B5EF4-FFF2-40B4-BE49-F238E27FC236}">
                <a16:creationId xmlns:a16="http://schemas.microsoft.com/office/drawing/2014/main" id="{6E8AEDE5-C88C-4E56-BBA9-E1E9E4B25F4F}"/>
              </a:ext>
            </a:extLst>
          </p:cNvPr>
          <p:cNvSpPr>
            <a:spLocks xmlns:a="http://schemas.openxmlformats.org/drawingml/2006/main" noGrp="1"/>
          </p:cNvSpPr>
          <p:nvPr/>
        </p:nvSpPr>
        <p:spPr>
          <a:xfrm xmlns:a="http://schemas.openxmlformats.org/drawingml/2006/main">
            <a:off x="609600" y="2305050"/>
            <a:ext cx="76200" cy="5905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DD5A978-A11B-447E-8F13-F669D984B6D8}"/>
              </a:ext>
            </a:extLst>
          </p:cNvPr>
          <p:cNvSpPr>
            <a:spLocks xmlns:a="http://schemas.openxmlformats.org/drawingml/2006/main" noGrp="1"/>
          </p:cNvSpPr>
          <p:nvPr/>
        </p:nvSpPr>
        <p:spPr>
          <a:xfrm xmlns:a="http://schemas.openxmlformats.org/drawingml/2006/main">
            <a:off x="838200" y="248602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45CE726-07BF-4591-B015-6419FD879B5B}"/>
              </a:ext>
            </a:extLst>
          </p:cNvPr>
          <p:cNvSpPr>
            <a:spLocks xmlns:a="http://schemas.openxmlformats.org/drawingml/2006/main" noGrp="1"/>
          </p:cNvSpPr>
          <p:nvPr/>
        </p:nvSpPr>
        <p:spPr>
          <a:xfrm xmlns:a="http://schemas.openxmlformats.org/drawingml/2006/main">
            <a:off x="1238250" y="243840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Reģistrējas un apstiprina e-pastu</a:t>
            </a:r>
          </a:p>
        </p:txBody>
      </p:sp>
      <p:sp>
        <p:nvSpPr>
          <p:cNvPr id="9" name="">
            <a:extLst xmlns:a="http://schemas.openxmlformats.org/drawingml/2006/main">
              <a:ext uri="{FF2B5EF4-FFF2-40B4-BE49-F238E27FC236}">
                <a16:creationId xmlns:a16="http://schemas.microsoft.com/office/drawing/2014/main" id="{CEF5E2D5-E554-4688-AE5A-5FBA44D6F15A}"/>
              </a:ext>
            </a:extLst>
          </p:cNvPr>
          <p:cNvSpPr>
            <a:spLocks xmlns:a="http://schemas.openxmlformats.org/drawingml/2006/main" noGrp="1"/>
          </p:cNvSpPr>
          <p:nvPr/>
        </p:nvSpPr>
        <p:spPr>
          <a:xfrm xmlns:a="http://schemas.openxmlformats.org/drawingml/2006/main">
            <a:off x="609600" y="312420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10" name="">
            <a:extLst xmlns:a="http://schemas.openxmlformats.org/drawingml/2006/main">
              <a:ext uri="{FF2B5EF4-FFF2-40B4-BE49-F238E27FC236}">
                <a16:creationId xmlns:a16="http://schemas.microsoft.com/office/drawing/2014/main" id="{AB66309A-8773-404B-84B1-F7EAC1175496}"/>
              </a:ext>
            </a:extLst>
          </p:cNvPr>
          <p:cNvSpPr>
            <a:spLocks xmlns:a="http://schemas.openxmlformats.org/drawingml/2006/main" noGrp="1"/>
          </p:cNvSpPr>
          <p:nvPr/>
        </p:nvSpPr>
        <p:spPr>
          <a:xfrm xmlns:a="http://schemas.openxmlformats.org/drawingml/2006/main">
            <a:off x="609600" y="3124200"/>
            <a:ext cx="76200" cy="5905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623C8C-C6DC-4A20-8783-364547034A31}"/>
              </a:ext>
            </a:extLst>
          </p:cNvPr>
          <p:cNvSpPr>
            <a:spLocks xmlns:a="http://schemas.openxmlformats.org/drawingml/2006/main" noGrp="1"/>
          </p:cNvSpPr>
          <p:nvPr/>
        </p:nvSpPr>
        <p:spPr>
          <a:xfrm xmlns:a="http://schemas.openxmlformats.org/drawingml/2006/main">
            <a:off x="838200" y="330517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48AC690F-FDC0-4DB6-A96A-46C7BF44AD09}"/>
              </a:ext>
            </a:extLst>
          </p:cNvPr>
          <p:cNvSpPr>
            <a:spLocks xmlns:a="http://schemas.openxmlformats.org/drawingml/2006/main" noGrp="1"/>
          </p:cNvSpPr>
          <p:nvPr/>
        </p:nvSpPr>
        <p:spPr>
          <a:xfrm xmlns:a="http://schemas.openxmlformats.org/drawingml/2006/main">
            <a:off x="1238250" y="325755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Izveido eventu ar precīzu laiku</a:t>
            </a:r>
          </a:p>
        </p:txBody>
      </p:sp>
      <p:sp>
        <p:nvSpPr>
          <p:cNvPr id="13" name="">
            <a:extLst xmlns:a="http://schemas.openxmlformats.org/drawingml/2006/main">
              <a:ext uri="{FF2B5EF4-FFF2-40B4-BE49-F238E27FC236}">
                <a16:creationId xmlns:a16="http://schemas.microsoft.com/office/drawing/2014/main" id="{70980F1E-A25D-4C93-B8A7-4D69C0E30CE0}"/>
              </a:ext>
            </a:extLst>
          </p:cNvPr>
          <p:cNvSpPr>
            <a:spLocks xmlns:a="http://schemas.openxmlformats.org/drawingml/2006/main" noGrp="1"/>
          </p:cNvSpPr>
          <p:nvPr/>
        </p:nvSpPr>
        <p:spPr>
          <a:xfrm xmlns:a="http://schemas.openxmlformats.org/drawingml/2006/main">
            <a:off x="609600" y="394335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14" name="">
            <a:extLst xmlns:a="http://schemas.openxmlformats.org/drawingml/2006/main">
              <a:ext uri="{FF2B5EF4-FFF2-40B4-BE49-F238E27FC236}">
                <a16:creationId xmlns:a16="http://schemas.microsoft.com/office/drawing/2014/main" id="{1B6D7D26-1ED2-4547-9469-6848A7CDD7E2}"/>
              </a:ext>
            </a:extLst>
          </p:cNvPr>
          <p:cNvSpPr>
            <a:spLocks xmlns:a="http://schemas.openxmlformats.org/drawingml/2006/main" noGrp="1"/>
          </p:cNvSpPr>
          <p:nvPr/>
        </p:nvSpPr>
        <p:spPr>
          <a:xfrm xmlns:a="http://schemas.openxmlformats.org/drawingml/2006/main">
            <a:off x="609600" y="3943350"/>
            <a:ext cx="76200" cy="5905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EE9CC9-4050-4AF9-9421-D83392F49D33}"/>
              </a:ext>
            </a:extLst>
          </p:cNvPr>
          <p:cNvSpPr>
            <a:spLocks xmlns:a="http://schemas.openxmlformats.org/drawingml/2006/main" noGrp="1"/>
          </p:cNvSpPr>
          <p:nvPr/>
        </p:nvSpPr>
        <p:spPr>
          <a:xfrm xmlns:a="http://schemas.openxmlformats.org/drawingml/2006/main">
            <a:off x="838200" y="412432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99616AEC-9E2B-44A4-B7F5-17B66C7C6AD9}"/>
              </a:ext>
            </a:extLst>
          </p:cNvPr>
          <p:cNvSpPr>
            <a:spLocks xmlns:a="http://schemas.openxmlformats.org/drawingml/2006/main" noGrp="1"/>
          </p:cNvSpPr>
          <p:nvPr/>
        </p:nvSpPr>
        <p:spPr>
          <a:xfrm xmlns:a="http://schemas.openxmlformats.org/drawingml/2006/main">
            <a:off x="1238250" y="407670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Pielāgo dizainu un saņem QR</a:t>
            </a:r>
          </a:p>
        </p:txBody>
      </p:sp>
      <p:sp>
        <p:nvSpPr>
          <p:cNvPr id="17" name="">
            <a:extLst xmlns:a="http://schemas.openxmlformats.org/drawingml/2006/main">
              <a:ext uri="{FF2B5EF4-FFF2-40B4-BE49-F238E27FC236}">
                <a16:creationId xmlns:a16="http://schemas.microsoft.com/office/drawing/2014/main" id="{B9A16C08-A329-4245-B465-6523FE7BAFEE}"/>
              </a:ext>
            </a:extLst>
          </p:cNvPr>
          <p:cNvSpPr>
            <a:spLocks xmlns:a="http://schemas.openxmlformats.org/drawingml/2006/main" noGrp="1"/>
          </p:cNvSpPr>
          <p:nvPr/>
        </p:nvSpPr>
        <p:spPr>
          <a:xfrm xmlns:a="http://schemas.openxmlformats.org/drawingml/2006/main">
            <a:off x="609600" y="476250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18" name="">
            <a:extLst xmlns:a="http://schemas.openxmlformats.org/drawingml/2006/main">
              <a:ext uri="{FF2B5EF4-FFF2-40B4-BE49-F238E27FC236}">
                <a16:creationId xmlns:a16="http://schemas.microsoft.com/office/drawing/2014/main" id="{AFACF4F1-2502-4FAF-8CF1-794715E2B7C5}"/>
              </a:ext>
            </a:extLst>
          </p:cNvPr>
          <p:cNvSpPr>
            <a:spLocks xmlns:a="http://schemas.openxmlformats.org/drawingml/2006/main" noGrp="1"/>
          </p:cNvSpPr>
          <p:nvPr/>
        </p:nvSpPr>
        <p:spPr>
          <a:xfrm xmlns:a="http://schemas.openxmlformats.org/drawingml/2006/main">
            <a:off x="609600" y="4762500"/>
            <a:ext cx="76200" cy="5905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8E9F42D-0ED3-4ACA-A245-F2FB104F53E1}"/>
              </a:ext>
            </a:extLst>
          </p:cNvPr>
          <p:cNvSpPr>
            <a:spLocks xmlns:a="http://schemas.openxmlformats.org/drawingml/2006/main" noGrp="1"/>
          </p:cNvSpPr>
          <p:nvPr/>
        </p:nvSpPr>
        <p:spPr>
          <a:xfrm xmlns:a="http://schemas.openxmlformats.org/drawingml/2006/main">
            <a:off x="838200" y="494347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B59C3634-3168-45BB-A39F-0FB6C126DC13}"/>
              </a:ext>
            </a:extLst>
          </p:cNvPr>
          <p:cNvSpPr>
            <a:spLocks xmlns:a="http://schemas.openxmlformats.org/drawingml/2006/main" noGrp="1"/>
          </p:cNvSpPr>
          <p:nvPr/>
        </p:nvSpPr>
        <p:spPr>
          <a:xfrm xmlns:a="http://schemas.openxmlformats.org/drawingml/2006/main">
            <a:off x="1238250" y="489585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Pārskata galeriju, dzēš, eksportē ZIP</a:t>
            </a:r>
          </a:p>
        </p:txBody>
      </p:sp>
      <p:sp>
        <p:nvSpPr>
          <p:cNvPr id="21" name="">
            <a:extLst xmlns:a="http://schemas.openxmlformats.org/drawingml/2006/main">
              <a:ext uri="{FF2B5EF4-FFF2-40B4-BE49-F238E27FC236}">
                <a16:creationId xmlns:a16="http://schemas.microsoft.com/office/drawing/2014/main" id="{B2E7C30F-3DA8-41B4-B889-03D4D28E7DE6}"/>
              </a:ext>
            </a:extLst>
          </p:cNvPr>
          <p:cNvSpPr>
            <a:spLocks xmlns:a="http://schemas.openxmlformats.org/drawingml/2006/main" noGrp="1"/>
          </p:cNvSpPr>
          <p:nvPr/>
        </p:nvSpPr>
        <p:spPr>
          <a:xfrm xmlns:a="http://schemas.openxmlformats.org/drawingml/2006/main">
            <a:off x="6515100" y="230505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22" name="">
            <a:extLst xmlns:a="http://schemas.openxmlformats.org/drawingml/2006/main">
              <a:ext uri="{FF2B5EF4-FFF2-40B4-BE49-F238E27FC236}">
                <a16:creationId xmlns:a16="http://schemas.microsoft.com/office/drawing/2014/main" id="{B307C50A-257B-4D21-98D8-D220CD7F63F1}"/>
              </a:ext>
            </a:extLst>
          </p:cNvPr>
          <p:cNvSpPr>
            <a:spLocks xmlns:a="http://schemas.openxmlformats.org/drawingml/2006/main" noGrp="1"/>
          </p:cNvSpPr>
          <p:nvPr/>
        </p:nvSpPr>
        <p:spPr>
          <a:xfrm xmlns:a="http://schemas.openxmlformats.org/drawingml/2006/main">
            <a:off x="6515100" y="2305050"/>
            <a:ext cx="76200" cy="59055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B00863D-CC2D-459E-95F1-10AFF4AFC154}"/>
              </a:ext>
            </a:extLst>
          </p:cNvPr>
          <p:cNvSpPr>
            <a:spLocks xmlns:a="http://schemas.openxmlformats.org/drawingml/2006/main" noGrp="1"/>
          </p:cNvSpPr>
          <p:nvPr/>
        </p:nvSpPr>
        <p:spPr>
          <a:xfrm xmlns:a="http://schemas.openxmlformats.org/drawingml/2006/main">
            <a:off x="6743700" y="248602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ED6DA"/>
                </a:solidFill>
                <a:latin typeface="Arial"/>
                <a:ea typeface="Arial"/>
                <a:cs typeface="Arial"/>
              </a:defRPr>
            </a:pPr>
            <a:r>
              <a:rPr sz="1050" b="1">
                <a:solidFill>
                  <a:srgbClr val="6ED6DA"/>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EB7CD2EC-2C35-4CC0-9606-4C4E9C4912E4}"/>
              </a:ext>
            </a:extLst>
          </p:cNvPr>
          <p:cNvSpPr>
            <a:spLocks xmlns:a="http://schemas.openxmlformats.org/drawingml/2006/main" noGrp="1"/>
          </p:cNvSpPr>
          <p:nvPr/>
        </p:nvSpPr>
        <p:spPr>
          <a:xfrm xmlns:a="http://schemas.openxmlformats.org/drawingml/2006/main">
            <a:off x="7143750" y="243840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Noskenē QR vai atver saiti</a:t>
            </a:r>
          </a:p>
        </p:txBody>
      </p:sp>
      <p:sp>
        <p:nvSpPr>
          <p:cNvPr id="25" name="">
            <a:extLst xmlns:a="http://schemas.openxmlformats.org/drawingml/2006/main">
              <a:ext uri="{FF2B5EF4-FFF2-40B4-BE49-F238E27FC236}">
                <a16:creationId xmlns:a16="http://schemas.microsoft.com/office/drawing/2014/main" id="{8B38094F-E8D3-4D8E-A78E-84A19972326A}"/>
              </a:ext>
            </a:extLst>
          </p:cNvPr>
          <p:cNvSpPr>
            <a:spLocks xmlns:a="http://schemas.openxmlformats.org/drawingml/2006/main" noGrp="1"/>
          </p:cNvSpPr>
          <p:nvPr/>
        </p:nvSpPr>
        <p:spPr>
          <a:xfrm xmlns:a="http://schemas.openxmlformats.org/drawingml/2006/main">
            <a:off x="6515100" y="312420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26" name="">
            <a:extLst xmlns:a="http://schemas.openxmlformats.org/drawingml/2006/main">
              <a:ext uri="{FF2B5EF4-FFF2-40B4-BE49-F238E27FC236}">
                <a16:creationId xmlns:a16="http://schemas.microsoft.com/office/drawing/2014/main" id="{5B318BB4-5CE9-40B7-A86B-D840040A426F}"/>
              </a:ext>
            </a:extLst>
          </p:cNvPr>
          <p:cNvSpPr>
            <a:spLocks xmlns:a="http://schemas.openxmlformats.org/drawingml/2006/main" noGrp="1"/>
          </p:cNvSpPr>
          <p:nvPr/>
        </p:nvSpPr>
        <p:spPr>
          <a:xfrm xmlns:a="http://schemas.openxmlformats.org/drawingml/2006/main">
            <a:off x="6515100" y="3124200"/>
            <a:ext cx="76200" cy="59055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C93502A-8F58-4E30-8791-1F24C414A8C6}"/>
              </a:ext>
            </a:extLst>
          </p:cNvPr>
          <p:cNvSpPr>
            <a:spLocks xmlns:a="http://schemas.openxmlformats.org/drawingml/2006/main" noGrp="1"/>
          </p:cNvSpPr>
          <p:nvPr/>
        </p:nvSpPr>
        <p:spPr>
          <a:xfrm xmlns:a="http://schemas.openxmlformats.org/drawingml/2006/main">
            <a:off x="6743700" y="330517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ED6DA"/>
                </a:solidFill>
                <a:latin typeface="Arial"/>
                <a:ea typeface="Arial"/>
                <a:cs typeface="Arial"/>
              </a:defRPr>
            </a:pPr>
            <a:r>
              <a:rPr sz="1050" b="1">
                <a:solidFill>
                  <a:srgbClr val="6ED6DA"/>
                </a:solidFill>
                <a:latin typeface="Arial"/>
                <a:ea typeface="Arial"/>
                <a:cs typeface="Arial"/>
              </a:rPr>
              <a:t>02</a:t>
            </a:r>
          </a:p>
        </p:txBody>
      </p:sp>
      <p:sp>
        <p:nvSpPr>
          <p:cNvPr id="28" name="">
            <a:extLst xmlns:a="http://schemas.openxmlformats.org/drawingml/2006/main">
              <a:ext uri="{FF2B5EF4-FFF2-40B4-BE49-F238E27FC236}">
                <a16:creationId xmlns:a16="http://schemas.microsoft.com/office/drawing/2014/main" id="{DABB87B8-6F29-4357-8643-F7DE3390E15A}"/>
              </a:ext>
            </a:extLst>
          </p:cNvPr>
          <p:cNvSpPr>
            <a:spLocks xmlns:a="http://schemas.openxmlformats.org/drawingml/2006/main" noGrp="1"/>
          </p:cNvSpPr>
          <p:nvPr/>
        </p:nvSpPr>
        <p:spPr>
          <a:xfrm xmlns:a="http://schemas.openxmlformats.org/drawingml/2006/main">
            <a:off x="7143750" y="325755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Ievada vārdu bez konta</a:t>
            </a:r>
          </a:p>
        </p:txBody>
      </p:sp>
      <p:sp>
        <p:nvSpPr>
          <p:cNvPr id="29" name="">
            <a:extLst xmlns:a="http://schemas.openxmlformats.org/drawingml/2006/main">
              <a:ext uri="{FF2B5EF4-FFF2-40B4-BE49-F238E27FC236}">
                <a16:creationId xmlns:a16="http://schemas.microsoft.com/office/drawing/2014/main" id="{D1A8F98B-E6A2-4D86-9A75-FCA689DB4001}"/>
              </a:ext>
            </a:extLst>
          </p:cNvPr>
          <p:cNvSpPr>
            <a:spLocks xmlns:a="http://schemas.openxmlformats.org/drawingml/2006/main" noGrp="1"/>
          </p:cNvSpPr>
          <p:nvPr/>
        </p:nvSpPr>
        <p:spPr>
          <a:xfrm xmlns:a="http://schemas.openxmlformats.org/drawingml/2006/main">
            <a:off x="6515100" y="394335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30" name="">
            <a:extLst xmlns:a="http://schemas.openxmlformats.org/drawingml/2006/main">
              <a:ext uri="{FF2B5EF4-FFF2-40B4-BE49-F238E27FC236}">
                <a16:creationId xmlns:a16="http://schemas.microsoft.com/office/drawing/2014/main" id="{F97E77A6-3CE8-4A91-9844-467F1DD9739D}"/>
              </a:ext>
            </a:extLst>
          </p:cNvPr>
          <p:cNvSpPr>
            <a:spLocks xmlns:a="http://schemas.openxmlformats.org/drawingml/2006/main" noGrp="1"/>
          </p:cNvSpPr>
          <p:nvPr/>
        </p:nvSpPr>
        <p:spPr>
          <a:xfrm xmlns:a="http://schemas.openxmlformats.org/drawingml/2006/main">
            <a:off x="6515100" y="3943350"/>
            <a:ext cx="76200" cy="59055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A2310A9-BA5E-43FC-93AE-A77962EEE31C}"/>
              </a:ext>
            </a:extLst>
          </p:cNvPr>
          <p:cNvSpPr>
            <a:spLocks xmlns:a="http://schemas.openxmlformats.org/drawingml/2006/main" noGrp="1"/>
          </p:cNvSpPr>
          <p:nvPr/>
        </p:nvSpPr>
        <p:spPr>
          <a:xfrm xmlns:a="http://schemas.openxmlformats.org/drawingml/2006/main">
            <a:off x="6743700" y="412432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ED6DA"/>
                </a:solidFill>
                <a:latin typeface="Arial"/>
                <a:ea typeface="Arial"/>
                <a:cs typeface="Arial"/>
              </a:defRPr>
            </a:pPr>
            <a:r>
              <a:rPr sz="1050" b="1">
                <a:solidFill>
                  <a:srgbClr val="6ED6DA"/>
                </a:solidFill>
                <a:latin typeface="Arial"/>
                <a:ea typeface="Arial"/>
                <a:cs typeface="Arial"/>
              </a:rPr>
              <a:t>03</a:t>
            </a:r>
          </a:p>
        </p:txBody>
      </p:sp>
      <p:sp>
        <p:nvSpPr>
          <p:cNvPr id="32" name="">
            <a:extLst xmlns:a="http://schemas.openxmlformats.org/drawingml/2006/main">
              <a:ext uri="{FF2B5EF4-FFF2-40B4-BE49-F238E27FC236}">
                <a16:creationId xmlns:a16="http://schemas.microsoft.com/office/drawing/2014/main" id="{FD802636-5775-4ED3-84D2-D1B4A7931148}"/>
              </a:ext>
            </a:extLst>
          </p:cNvPr>
          <p:cNvSpPr>
            <a:spLocks xmlns:a="http://schemas.openxmlformats.org/drawingml/2006/main" noGrp="1"/>
          </p:cNvSpPr>
          <p:nvPr/>
        </p:nvSpPr>
        <p:spPr>
          <a:xfrm xmlns:a="http://schemas.openxmlformats.org/drawingml/2006/main">
            <a:off x="7143750" y="407670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Atver kameru un uzņem foto</a:t>
            </a:r>
          </a:p>
        </p:txBody>
      </p:sp>
      <p:sp>
        <p:nvSpPr>
          <p:cNvPr id="33" name="">
            <a:extLst xmlns:a="http://schemas.openxmlformats.org/drawingml/2006/main">
              <a:ext uri="{FF2B5EF4-FFF2-40B4-BE49-F238E27FC236}">
                <a16:creationId xmlns:a16="http://schemas.microsoft.com/office/drawing/2014/main" id="{55AF6C5B-AC02-4BF2-BC6F-7834BE102208}"/>
              </a:ext>
            </a:extLst>
          </p:cNvPr>
          <p:cNvSpPr>
            <a:spLocks xmlns:a="http://schemas.openxmlformats.org/drawingml/2006/main" noGrp="1"/>
          </p:cNvSpPr>
          <p:nvPr/>
        </p:nvSpPr>
        <p:spPr>
          <a:xfrm xmlns:a="http://schemas.openxmlformats.org/drawingml/2006/main">
            <a:off x="6515100" y="4762500"/>
            <a:ext cx="4762500" cy="590550"/>
          </a:xfrm>
          <a:prstGeom xmlns:a="http://schemas.openxmlformats.org/drawingml/2006/main" prst="roundRect">
            <a:avLst>
              <a:gd name="adj" fmla="val 12903"/>
            </a:avLst>
          </a:prstGeom>
          <a:solidFill xmlns:a="http://schemas.openxmlformats.org/drawingml/2006/main">
            <a:srgbClr val="121A18"/>
          </a:solidFill>
          <a:ln xmlns:a="http://schemas.openxmlformats.org/drawingml/2006/main" w="9525">
            <a:solidFill>
              <a:srgbClr val="2A3A34"/>
            </a:solidFill>
          </a:ln>
        </p:spPr>
      </p:sp>
      <p:sp>
        <p:nvSpPr>
          <p:cNvPr id="34" name="">
            <a:extLst xmlns:a="http://schemas.openxmlformats.org/drawingml/2006/main">
              <a:ext uri="{FF2B5EF4-FFF2-40B4-BE49-F238E27FC236}">
                <a16:creationId xmlns:a16="http://schemas.microsoft.com/office/drawing/2014/main" id="{A54410BA-B55E-4A71-8CDB-50282E78C9BD}"/>
              </a:ext>
            </a:extLst>
          </p:cNvPr>
          <p:cNvSpPr>
            <a:spLocks xmlns:a="http://schemas.openxmlformats.org/drawingml/2006/main" noGrp="1"/>
          </p:cNvSpPr>
          <p:nvPr/>
        </p:nvSpPr>
        <p:spPr>
          <a:xfrm xmlns:a="http://schemas.openxmlformats.org/drawingml/2006/main">
            <a:off x="6515100" y="4762500"/>
            <a:ext cx="76200" cy="59055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8F64984-CA11-4B8E-BF7C-625B10A6D678}"/>
              </a:ext>
            </a:extLst>
          </p:cNvPr>
          <p:cNvSpPr>
            <a:spLocks xmlns:a="http://schemas.openxmlformats.org/drawingml/2006/main" noGrp="1"/>
          </p:cNvSpPr>
          <p:nvPr/>
        </p:nvSpPr>
        <p:spPr>
          <a:xfrm xmlns:a="http://schemas.openxmlformats.org/drawingml/2006/main">
            <a:off x="6743700" y="4943475"/>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6ED6DA"/>
                </a:solidFill>
                <a:latin typeface="Arial"/>
                <a:ea typeface="Arial"/>
                <a:cs typeface="Arial"/>
              </a:defRPr>
            </a:pPr>
            <a:r>
              <a:rPr sz="1050" b="1">
                <a:solidFill>
                  <a:srgbClr val="6ED6DA"/>
                </a:solidFill>
                <a:latin typeface="Arial"/>
                <a:ea typeface="Arial"/>
                <a:cs typeface="Arial"/>
              </a:rPr>
              <a:t>04</a:t>
            </a:r>
          </a:p>
        </p:txBody>
      </p:sp>
      <p:sp>
        <p:nvSpPr>
          <p:cNvPr id="36" name="">
            <a:extLst xmlns:a="http://schemas.openxmlformats.org/drawingml/2006/main">
              <a:ext uri="{FF2B5EF4-FFF2-40B4-BE49-F238E27FC236}">
                <a16:creationId xmlns:a16="http://schemas.microsoft.com/office/drawing/2014/main" id="{FD67210D-59F4-4439-B11D-4F69FDB7CFFC}"/>
              </a:ext>
            </a:extLst>
          </p:cNvPr>
          <p:cNvSpPr>
            <a:spLocks xmlns:a="http://schemas.openxmlformats.org/drawingml/2006/main" noGrp="1"/>
          </p:cNvSpPr>
          <p:nvPr/>
        </p:nvSpPr>
        <p:spPr>
          <a:xfrm xmlns:a="http://schemas.openxmlformats.org/drawingml/2006/main">
            <a:off x="7143750" y="4895850"/>
            <a:ext cx="3943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Saņem skaidru upload rezultātu</a:t>
            </a:r>
          </a:p>
        </p:txBody>
      </p:sp>
      <p:sp>
        <p:nvSpPr>
          <p:cNvPr id="37" name="">
            <a:extLst xmlns:a="http://schemas.openxmlformats.org/drawingml/2006/main">
              <a:ext uri="{FF2B5EF4-FFF2-40B4-BE49-F238E27FC236}">
                <a16:creationId xmlns:a16="http://schemas.microsoft.com/office/drawing/2014/main" id="{261A4DE7-1DCB-4873-AB58-F3D05575307C}"/>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6E2044E-4A30-44E2-BD8D-A17BD33FC6C2}"/>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39" name="">
            <a:extLst xmlns:a="http://schemas.openxmlformats.org/drawingml/2006/main">
              <a:ext uri="{FF2B5EF4-FFF2-40B4-BE49-F238E27FC236}">
                <a16:creationId xmlns:a16="http://schemas.microsoft.com/office/drawing/2014/main" id="{D4424118-E74F-47B7-A072-F55885DB4201}"/>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03</a:t>
            </a:r>
          </a:p>
        </p:txBody>
      </p:sp>
    </p:spTree>
    <p:extLst>
      <p:ext uri="{BB962C8B-B14F-4D97-AF65-F5344CB8AC3E}">
        <p14:creationId xmlns:p14="http://schemas.microsoft.com/office/powerpoint/2010/main" val="1672736786"/>
      </p:ext>
    </p:extLst>
  </p:cSld>
</p:sld>
</file>

<file path=ppt/slides/slide4.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3AF084D-C16C-4AE1-A83B-A971D6AAC324}"/>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03 · ARHITEKTŪRA</a:t>
            </a:r>
          </a:p>
        </p:txBody>
      </p:sp>
      <p:sp>
        <p:nvSpPr>
          <p:cNvPr id="2" name="">
            <a:extLst xmlns:a="http://schemas.openxmlformats.org/drawingml/2006/main">
              <a:ext uri="{FF2B5EF4-FFF2-40B4-BE49-F238E27FC236}">
                <a16:creationId xmlns:a16="http://schemas.microsoft.com/office/drawing/2014/main" id="{E79B48AF-B3E8-4198-8A40-12C05D44C10A}"/>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Katram servisam viena skaidra atbildība</a:t>
            </a:r>
          </a:p>
        </p:txBody>
      </p:sp>
      <p:sp>
        <p:nvSpPr>
          <p:cNvPr id="3" name="">
            <a:extLst xmlns:a="http://schemas.openxmlformats.org/drawingml/2006/main">
              <a:ext uri="{FF2B5EF4-FFF2-40B4-BE49-F238E27FC236}">
                <a16:creationId xmlns:a16="http://schemas.microsoft.com/office/drawing/2014/main" id="{1A69757D-F644-46E3-BC4C-70830F0577A4}"/>
              </a:ext>
            </a:extLst>
          </p:cNvPr>
          <p:cNvSpPr>
            <a:spLocks xmlns:a="http://schemas.openxmlformats.org/drawingml/2006/main" noGrp="1"/>
          </p:cNvSpPr>
          <p:nvPr/>
        </p:nvSpPr>
        <p:spPr>
          <a:xfrm xmlns:a="http://schemas.openxmlformats.org/drawingml/2006/main">
            <a:off x="609600" y="13049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FC0B8"/>
                </a:solidFill>
                <a:latin typeface="Arial"/>
                <a:ea typeface="Arial"/>
                <a:cs typeface="Arial"/>
              </a:defRPr>
            </a:pPr>
            <a:r>
              <a:rPr sz="1425" b="0">
                <a:solidFill>
                  <a:srgbClr val="AFC0B8"/>
                </a:solidFill>
                <a:latin typeface="Arial"/>
                <a:ea typeface="Arial"/>
                <a:cs typeface="Arial"/>
              </a:rPr>
              <a:t>Frontendā nav R2 vai service role noslēpumu.</a:t>
            </a:r>
          </a:p>
        </p:txBody>
      </p:sp>
      <p:sp>
        <p:nvSpPr>
          <p:cNvPr id="4" name="">
            <a:extLst xmlns:a="http://schemas.openxmlformats.org/drawingml/2006/main">
              <a:ext uri="{FF2B5EF4-FFF2-40B4-BE49-F238E27FC236}">
                <a16:creationId xmlns:a16="http://schemas.microsoft.com/office/drawing/2014/main" id="{A9637682-E3AF-457E-ADD3-3F49A1A9205E}"/>
              </a:ext>
            </a:extLst>
          </p:cNvPr>
          <p:cNvSpPr>
            <a:spLocks xmlns:a="http://schemas.openxmlformats.org/drawingml/2006/main" noGrp="1"/>
          </p:cNvSpPr>
          <p:nvPr/>
        </p:nvSpPr>
        <p:spPr>
          <a:xfrm xmlns:a="http://schemas.openxmlformats.org/drawingml/2006/main">
            <a:off x="2381250" y="2781300"/>
            <a:ext cx="76200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33BACB-B495-4B44-95F6-151C1769A6BE}"/>
              </a:ext>
            </a:extLst>
          </p:cNvPr>
          <p:cNvSpPr>
            <a:spLocks xmlns:a="http://schemas.openxmlformats.org/drawingml/2006/main" noGrp="1"/>
          </p:cNvSpPr>
          <p:nvPr/>
        </p:nvSpPr>
        <p:spPr>
          <a:xfrm xmlns:a="http://schemas.openxmlformats.org/drawingml/2006/main">
            <a:off x="5334000" y="2781300"/>
            <a:ext cx="85725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268098E-5C71-47EA-B071-903678F7DAC3}"/>
              </a:ext>
            </a:extLst>
          </p:cNvPr>
          <p:cNvSpPr>
            <a:spLocks xmlns:a="http://schemas.openxmlformats.org/drawingml/2006/main" noGrp="1"/>
          </p:cNvSpPr>
          <p:nvPr/>
        </p:nvSpPr>
        <p:spPr>
          <a:xfrm xmlns:a="http://schemas.openxmlformats.org/drawingml/2006/main">
            <a:off x="8382000" y="2781300"/>
            <a:ext cx="104775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01F50E-5683-4771-954F-7540B8C9866E}"/>
              </a:ext>
            </a:extLst>
          </p:cNvPr>
          <p:cNvSpPr>
            <a:spLocks xmlns:a="http://schemas.openxmlformats.org/drawingml/2006/main" noGrp="1"/>
          </p:cNvSpPr>
          <p:nvPr/>
        </p:nvSpPr>
        <p:spPr>
          <a:xfrm xmlns:a="http://schemas.openxmlformats.org/drawingml/2006/main">
            <a:off x="4210050" y="2809875"/>
            <a:ext cx="38100" cy="5715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953C5D-3C54-472A-8567-9AD3C72516D8}"/>
              </a:ext>
            </a:extLst>
          </p:cNvPr>
          <p:cNvSpPr>
            <a:spLocks xmlns:a="http://schemas.openxmlformats.org/drawingml/2006/main" noGrp="1"/>
          </p:cNvSpPr>
          <p:nvPr/>
        </p:nvSpPr>
        <p:spPr>
          <a:xfrm xmlns:a="http://schemas.openxmlformats.org/drawingml/2006/main">
            <a:off x="7286625" y="3238500"/>
            <a:ext cx="38100" cy="55245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803F6C8-B684-47CC-AFD9-1C3358BB9675}"/>
              </a:ext>
            </a:extLst>
          </p:cNvPr>
          <p:cNvSpPr>
            <a:spLocks xmlns:a="http://schemas.openxmlformats.org/drawingml/2006/main" noGrp="1"/>
          </p:cNvSpPr>
          <p:nvPr/>
        </p:nvSpPr>
        <p:spPr>
          <a:xfrm xmlns:a="http://schemas.openxmlformats.org/drawingml/2006/main">
            <a:off x="8382000" y="3790950"/>
            <a:ext cx="104775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237111-C1EC-47C9-A998-AE46B98AB2F8}"/>
              </a:ext>
            </a:extLst>
          </p:cNvPr>
          <p:cNvSpPr>
            <a:spLocks xmlns:a="http://schemas.openxmlformats.org/drawingml/2006/main" noGrp="1"/>
          </p:cNvSpPr>
          <p:nvPr/>
        </p:nvSpPr>
        <p:spPr>
          <a:xfrm xmlns:a="http://schemas.openxmlformats.org/drawingml/2006/main">
            <a:off x="609600" y="2381250"/>
            <a:ext cx="1809750" cy="857250"/>
          </a:xfrm>
          <a:prstGeom xmlns:a="http://schemas.openxmlformats.org/drawingml/2006/main" prst="roundRect">
            <a:avLst>
              <a:gd name="adj" fmla="val 11111"/>
            </a:avLst>
          </a:prstGeom>
          <a:solidFill xmlns:a="http://schemas.openxmlformats.org/drawingml/2006/main">
            <a:srgbClr val="121A18"/>
          </a:solidFill>
          <a:ln xmlns:a="http://schemas.openxmlformats.org/drawingml/2006/main" w="9525">
            <a:solidFill>
              <a:srgbClr val="2A3A34"/>
            </a:solidFill>
          </a:ln>
        </p:spPr>
      </p:sp>
      <p:sp>
        <p:nvSpPr>
          <p:cNvPr id="11" name="">
            <a:extLst xmlns:a="http://schemas.openxmlformats.org/drawingml/2006/main">
              <a:ext uri="{FF2B5EF4-FFF2-40B4-BE49-F238E27FC236}">
                <a16:creationId xmlns:a16="http://schemas.microsoft.com/office/drawing/2014/main" id="{C81CB157-6D8B-45EC-B5C8-57698EFC0D49}"/>
              </a:ext>
            </a:extLst>
          </p:cNvPr>
          <p:cNvSpPr>
            <a:spLocks xmlns:a="http://schemas.openxmlformats.org/drawingml/2006/main" noGrp="1"/>
          </p:cNvSpPr>
          <p:nvPr/>
        </p:nvSpPr>
        <p:spPr>
          <a:xfrm xmlns:a="http://schemas.openxmlformats.org/drawingml/2006/main">
            <a:off x="609600" y="2381250"/>
            <a:ext cx="76200" cy="8572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66A54C-D51B-4003-8F1B-79208633F189}"/>
              </a:ext>
            </a:extLst>
          </p:cNvPr>
          <p:cNvSpPr>
            <a:spLocks xmlns:a="http://schemas.openxmlformats.org/drawingml/2006/main" noGrp="1"/>
          </p:cNvSpPr>
          <p:nvPr/>
        </p:nvSpPr>
        <p:spPr>
          <a:xfrm xmlns:a="http://schemas.openxmlformats.org/drawingml/2006/main">
            <a:off x="838200" y="2495550"/>
            <a:ext cx="142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7FBF8"/>
                </a:solidFill>
                <a:latin typeface="Arial"/>
                <a:ea typeface="Arial"/>
                <a:cs typeface="Arial"/>
              </a:defRPr>
            </a:pPr>
            <a:r>
              <a:rPr sz="1500" b="1">
                <a:solidFill>
                  <a:srgbClr val="F7FBF8"/>
                </a:solidFill>
                <a:latin typeface="Arial"/>
                <a:ea typeface="Arial"/>
                <a:cs typeface="Arial"/>
              </a:rPr>
              <a:t>Netlify</a:t>
            </a:r>
          </a:p>
        </p:txBody>
      </p:sp>
      <p:sp>
        <p:nvSpPr>
          <p:cNvPr id="13" name="">
            <a:extLst xmlns:a="http://schemas.openxmlformats.org/drawingml/2006/main">
              <a:ext uri="{FF2B5EF4-FFF2-40B4-BE49-F238E27FC236}">
                <a16:creationId xmlns:a16="http://schemas.microsoft.com/office/drawing/2014/main" id="{36EE6FFC-7880-415E-962D-83E3D975D908}"/>
              </a:ext>
            </a:extLst>
          </p:cNvPr>
          <p:cNvSpPr>
            <a:spLocks xmlns:a="http://schemas.openxmlformats.org/drawingml/2006/main" noGrp="1"/>
          </p:cNvSpPr>
          <p:nvPr/>
        </p:nvSpPr>
        <p:spPr>
          <a:xfrm xmlns:a="http://schemas.openxmlformats.org/drawingml/2006/main">
            <a:off x="838200" y="29908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HTML · CSS · JS</a:t>
            </a:r>
          </a:p>
        </p:txBody>
      </p:sp>
      <p:sp>
        <p:nvSpPr>
          <p:cNvPr id="14" name="">
            <a:extLst xmlns:a="http://schemas.openxmlformats.org/drawingml/2006/main">
              <a:ext uri="{FF2B5EF4-FFF2-40B4-BE49-F238E27FC236}">
                <a16:creationId xmlns:a16="http://schemas.microsoft.com/office/drawing/2014/main" id="{8CD78CC7-8ABF-494A-BBA9-971073B80C12}"/>
              </a:ext>
            </a:extLst>
          </p:cNvPr>
          <p:cNvSpPr>
            <a:spLocks xmlns:a="http://schemas.openxmlformats.org/drawingml/2006/main" noGrp="1"/>
          </p:cNvSpPr>
          <p:nvPr/>
        </p:nvSpPr>
        <p:spPr>
          <a:xfrm xmlns:a="http://schemas.openxmlformats.org/drawingml/2006/main">
            <a:off x="3143250" y="1952625"/>
            <a:ext cx="2190750" cy="857250"/>
          </a:xfrm>
          <a:prstGeom xmlns:a="http://schemas.openxmlformats.org/drawingml/2006/main" prst="roundRect">
            <a:avLst>
              <a:gd name="adj" fmla="val 11111"/>
            </a:avLst>
          </a:prstGeom>
          <a:solidFill xmlns:a="http://schemas.openxmlformats.org/drawingml/2006/main">
            <a:srgbClr val="121A18"/>
          </a:solidFill>
          <a:ln xmlns:a="http://schemas.openxmlformats.org/drawingml/2006/main" w="9525">
            <a:solidFill>
              <a:srgbClr val="2A3A34"/>
            </a:solidFill>
          </a:ln>
        </p:spPr>
      </p:sp>
      <p:sp>
        <p:nvSpPr>
          <p:cNvPr id="15" name="">
            <a:extLst xmlns:a="http://schemas.openxmlformats.org/drawingml/2006/main">
              <a:ext uri="{FF2B5EF4-FFF2-40B4-BE49-F238E27FC236}">
                <a16:creationId xmlns:a16="http://schemas.microsoft.com/office/drawing/2014/main" id="{CD4FF806-D767-4773-BB69-767319CBEF84}"/>
              </a:ext>
            </a:extLst>
          </p:cNvPr>
          <p:cNvSpPr>
            <a:spLocks xmlns:a="http://schemas.openxmlformats.org/drawingml/2006/main" noGrp="1"/>
          </p:cNvSpPr>
          <p:nvPr/>
        </p:nvSpPr>
        <p:spPr>
          <a:xfrm xmlns:a="http://schemas.openxmlformats.org/drawingml/2006/main">
            <a:off x="3143250" y="1952625"/>
            <a:ext cx="76200" cy="85725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A0647F3-4654-4541-9DB3-A31344D10FB2}"/>
              </a:ext>
            </a:extLst>
          </p:cNvPr>
          <p:cNvSpPr>
            <a:spLocks xmlns:a="http://schemas.openxmlformats.org/drawingml/2006/main" noGrp="1"/>
          </p:cNvSpPr>
          <p:nvPr/>
        </p:nvSpPr>
        <p:spPr>
          <a:xfrm xmlns:a="http://schemas.openxmlformats.org/drawingml/2006/main">
            <a:off x="3371850" y="2066925"/>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7FBF8"/>
                </a:solidFill>
                <a:latin typeface="Arial"/>
                <a:ea typeface="Arial"/>
                <a:cs typeface="Arial"/>
              </a:defRPr>
            </a:pPr>
            <a:r>
              <a:rPr sz="1500" b="1">
                <a:solidFill>
                  <a:srgbClr val="F7FBF8"/>
                </a:solidFill>
                <a:latin typeface="Arial"/>
                <a:ea typeface="Arial"/>
                <a:cs typeface="Arial"/>
              </a:rPr>
              <a:t>Supabase Auth</a:t>
            </a:r>
          </a:p>
        </p:txBody>
      </p:sp>
      <p:sp>
        <p:nvSpPr>
          <p:cNvPr id="17" name="">
            <a:extLst xmlns:a="http://schemas.openxmlformats.org/drawingml/2006/main">
              <a:ext uri="{FF2B5EF4-FFF2-40B4-BE49-F238E27FC236}">
                <a16:creationId xmlns:a16="http://schemas.microsoft.com/office/drawing/2014/main" id="{F9C1B374-850A-4893-9DEA-4261F8743315}"/>
              </a:ext>
            </a:extLst>
          </p:cNvPr>
          <p:cNvSpPr>
            <a:spLocks xmlns:a="http://schemas.openxmlformats.org/drawingml/2006/main" noGrp="1"/>
          </p:cNvSpPr>
          <p:nvPr/>
        </p:nvSpPr>
        <p:spPr>
          <a:xfrm xmlns:a="http://schemas.openxmlformats.org/drawingml/2006/main">
            <a:off x="3371850" y="2562225"/>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Sesija un JWT</a:t>
            </a:r>
          </a:p>
        </p:txBody>
      </p:sp>
      <p:sp>
        <p:nvSpPr>
          <p:cNvPr id="18" name="">
            <a:extLst xmlns:a="http://schemas.openxmlformats.org/drawingml/2006/main">
              <a:ext uri="{FF2B5EF4-FFF2-40B4-BE49-F238E27FC236}">
                <a16:creationId xmlns:a16="http://schemas.microsoft.com/office/drawing/2014/main" id="{4C14E4E5-F83D-4696-9D98-8F20C8E96806}"/>
              </a:ext>
            </a:extLst>
          </p:cNvPr>
          <p:cNvSpPr>
            <a:spLocks xmlns:a="http://schemas.openxmlformats.org/drawingml/2006/main" noGrp="1"/>
          </p:cNvSpPr>
          <p:nvPr/>
        </p:nvSpPr>
        <p:spPr>
          <a:xfrm xmlns:a="http://schemas.openxmlformats.org/drawingml/2006/main">
            <a:off x="3143250" y="3381375"/>
            <a:ext cx="2190750" cy="857250"/>
          </a:xfrm>
          <a:prstGeom xmlns:a="http://schemas.openxmlformats.org/drawingml/2006/main" prst="roundRect">
            <a:avLst>
              <a:gd name="adj" fmla="val 11111"/>
            </a:avLst>
          </a:prstGeom>
          <a:solidFill xmlns:a="http://schemas.openxmlformats.org/drawingml/2006/main">
            <a:srgbClr val="121A18"/>
          </a:solidFill>
          <a:ln xmlns:a="http://schemas.openxmlformats.org/drawingml/2006/main" w="9525">
            <a:solidFill>
              <a:srgbClr val="2A3A34"/>
            </a:solidFill>
          </a:ln>
        </p:spPr>
      </p:sp>
      <p:sp>
        <p:nvSpPr>
          <p:cNvPr id="19" name="">
            <a:extLst xmlns:a="http://schemas.openxmlformats.org/drawingml/2006/main">
              <a:ext uri="{FF2B5EF4-FFF2-40B4-BE49-F238E27FC236}">
                <a16:creationId xmlns:a16="http://schemas.microsoft.com/office/drawing/2014/main" id="{DF508C61-43FD-4096-A1BF-36AEC14BDE89}"/>
              </a:ext>
            </a:extLst>
          </p:cNvPr>
          <p:cNvSpPr>
            <a:spLocks xmlns:a="http://schemas.openxmlformats.org/drawingml/2006/main" noGrp="1"/>
          </p:cNvSpPr>
          <p:nvPr/>
        </p:nvSpPr>
        <p:spPr>
          <a:xfrm xmlns:a="http://schemas.openxmlformats.org/drawingml/2006/main">
            <a:off x="3143250" y="3381375"/>
            <a:ext cx="76200" cy="85725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DC4B201-ED70-4B13-9756-E6AFDF5E0FB9}"/>
              </a:ext>
            </a:extLst>
          </p:cNvPr>
          <p:cNvSpPr>
            <a:spLocks xmlns:a="http://schemas.openxmlformats.org/drawingml/2006/main" noGrp="1"/>
          </p:cNvSpPr>
          <p:nvPr/>
        </p:nvSpPr>
        <p:spPr>
          <a:xfrm xmlns:a="http://schemas.openxmlformats.org/drawingml/2006/main">
            <a:off x="3371850" y="3495675"/>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7FBF8"/>
                </a:solidFill>
                <a:latin typeface="Arial"/>
                <a:ea typeface="Arial"/>
                <a:cs typeface="Arial"/>
              </a:defRPr>
            </a:pPr>
            <a:r>
              <a:rPr sz="1500" b="1">
                <a:solidFill>
                  <a:srgbClr val="F7FBF8"/>
                </a:solidFill>
                <a:latin typeface="Arial"/>
                <a:ea typeface="Arial"/>
                <a:cs typeface="Arial"/>
              </a:rPr>
              <a:t>PostgreSQL</a:t>
            </a:r>
          </a:p>
        </p:txBody>
      </p:sp>
      <p:sp>
        <p:nvSpPr>
          <p:cNvPr id="21" name="">
            <a:extLst xmlns:a="http://schemas.openxmlformats.org/drawingml/2006/main">
              <a:ext uri="{FF2B5EF4-FFF2-40B4-BE49-F238E27FC236}">
                <a16:creationId xmlns:a16="http://schemas.microsoft.com/office/drawing/2014/main" id="{F7D5DDE5-1DA1-4D65-8777-A07123B14F61}"/>
              </a:ext>
            </a:extLst>
          </p:cNvPr>
          <p:cNvSpPr>
            <a:spLocks xmlns:a="http://schemas.openxmlformats.org/drawingml/2006/main" noGrp="1"/>
          </p:cNvSpPr>
          <p:nvPr/>
        </p:nvSpPr>
        <p:spPr>
          <a:xfrm xmlns:a="http://schemas.openxmlformats.org/drawingml/2006/main">
            <a:off x="3371850" y="3990975"/>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RLS · RPC · metadati</a:t>
            </a:r>
          </a:p>
        </p:txBody>
      </p:sp>
      <p:sp>
        <p:nvSpPr>
          <p:cNvPr id="22" name="">
            <a:extLst xmlns:a="http://schemas.openxmlformats.org/drawingml/2006/main">
              <a:ext uri="{FF2B5EF4-FFF2-40B4-BE49-F238E27FC236}">
                <a16:creationId xmlns:a16="http://schemas.microsoft.com/office/drawing/2014/main" id="{9F667F9E-D770-4D33-896A-DDA64E1D731E}"/>
              </a:ext>
            </a:extLst>
          </p:cNvPr>
          <p:cNvSpPr>
            <a:spLocks xmlns:a="http://schemas.openxmlformats.org/drawingml/2006/main" noGrp="1"/>
          </p:cNvSpPr>
          <p:nvPr/>
        </p:nvSpPr>
        <p:spPr>
          <a:xfrm xmlns:a="http://schemas.openxmlformats.org/drawingml/2006/main">
            <a:off x="6191250" y="2381250"/>
            <a:ext cx="2190750" cy="857250"/>
          </a:xfrm>
          <a:prstGeom xmlns:a="http://schemas.openxmlformats.org/drawingml/2006/main" prst="roundRect">
            <a:avLst>
              <a:gd name="adj" fmla="val 11111"/>
            </a:avLst>
          </a:prstGeom>
          <a:solidFill xmlns:a="http://schemas.openxmlformats.org/drawingml/2006/main">
            <a:srgbClr val="121A18"/>
          </a:solidFill>
          <a:ln xmlns:a="http://schemas.openxmlformats.org/drawingml/2006/main" w="9525">
            <a:solidFill>
              <a:srgbClr val="2A3A34"/>
            </a:solidFill>
          </a:ln>
        </p:spPr>
      </p:sp>
      <p:sp>
        <p:nvSpPr>
          <p:cNvPr id="23" name="">
            <a:extLst xmlns:a="http://schemas.openxmlformats.org/drawingml/2006/main">
              <a:ext uri="{FF2B5EF4-FFF2-40B4-BE49-F238E27FC236}">
                <a16:creationId xmlns:a16="http://schemas.microsoft.com/office/drawing/2014/main" id="{7E16724A-16CC-4CC9-B61A-7032CF47FDCD}"/>
              </a:ext>
            </a:extLst>
          </p:cNvPr>
          <p:cNvSpPr>
            <a:spLocks xmlns:a="http://schemas.openxmlformats.org/drawingml/2006/main" noGrp="1"/>
          </p:cNvSpPr>
          <p:nvPr/>
        </p:nvSpPr>
        <p:spPr>
          <a:xfrm xmlns:a="http://schemas.openxmlformats.org/drawingml/2006/main">
            <a:off x="6191250" y="2381250"/>
            <a:ext cx="76200" cy="8572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AE13388-3448-41A3-9C72-0534AC15F56A}"/>
              </a:ext>
            </a:extLst>
          </p:cNvPr>
          <p:cNvSpPr>
            <a:spLocks xmlns:a="http://schemas.openxmlformats.org/drawingml/2006/main" noGrp="1"/>
          </p:cNvSpPr>
          <p:nvPr/>
        </p:nvSpPr>
        <p:spPr>
          <a:xfrm xmlns:a="http://schemas.openxmlformats.org/drawingml/2006/main">
            <a:off x="6419850" y="249555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7FBF8"/>
                </a:solidFill>
                <a:latin typeface="Arial"/>
                <a:ea typeface="Arial"/>
                <a:cs typeface="Arial"/>
              </a:defRPr>
            </a:pPr>
            <a:r>
              <a:rPr sz="1500" b="1">
                <a:solidFill>
                  <a:srgbClr val="F7FBF8"/>
                </a:solidFill>
                <a:latin typeface="Arial"/>
                <a:ea typeface="Arial"/>
                <a:cs typeface="Arial"/>
              </a:rPr>
              <a:t>Cloudflare Worker</a:t>
            </a:r>
          </a:p>
        </p:txBody>
      </p:sp>
      <p:sp>
        <p:nvSpPr>
          <p:cNvPr id="25" name="">
            <a:extLst xmlns:a="http://schemas.openxmlformats.org/drawingml/2006/main">
              <a:ext uri="{FF2B5EF4-FFF2-40B4-BE49-F238E27FC236}">
                <a16:creationId xmlns:a16="http://schemas.microsoft.com/office/drawing/2014/main" id="{8D6DF9C7-2525-4416-BE6F-01C66ECD1D2C}"/>
              </a:ext>
            </a:extLst>
          </p:cNvPr>
          <p:cNvSpPr>
            <a:spLocks xmlns:a="http://schemas.openxmlformats.org/drawingml/2006/main" noGrp="1"/>
          </p:cNvSpPr>
          <p:nvPr/>
        </p:nvSpPr>
        <p:spPr>
          <a:xfrm xmlns:a="http://schemas.openxmlformats.org/drawingml/2006/main">
            <a:off x="6419850" y="29908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Autorizācija · API</a:t>
            </a:r>
          </a:p>
        </p:txBody>
      </p:sp>
      <p:sp>
        <p:nvSpPr>
          <p:cNvPr id="26" name="">
            <a:extLst xmlns:a="http://schemas.openxmlformats.org/drawingml/2006/main">
              <a:ext uri="{FF2B5EF4-FFF2-40B4-BE49-F238E27FC236}">
                <a16:creationId xmlns:a16="http://schemas.microsoft.com/office/drawing/2014/main" id="{6E586F08-A6FD-4BCE-A703-27840881BC83}"/>
              </a:ext>
            </a:extLst>
          </p:cNvPr>
          <p:cNvSpPr>
            <a:spLocks xmlns:a="http://schemas.openxmlformats.org/drawingml/2006/main" noGrp="1"/>
          </p:cNvSpPr>
          <p:nvPr/>
        </p:nvSpPr>
        <p:spPr>
          <a:xfrm xmlns:a="http://schemas.openxmlformats.org/drawingml/2006/main">
            <a:off x="9429750" y="1952625"/>
            <a:ext cx="2095500" cy="857250"/>
          </a:xfrm>
          <a:prstGeom xmlns:a="http://schemas.openxmlformats.org/drawingml/2006/main" prst="roundRect">
            <a:avLst>
              <a:gd name="adj" fmla="val 11111"/>
            </a:avLst>
          </a:prstGeom>
          <a:solidFill xmlns:a="http://schemas.openxmlformats.org/drawingml/2006/main">
            <a:srgbClr val="121A18"/>
          </a:solidFill>
          <a:ln xmlns:a="http://schemas.openxmlformats.org/drawingml/2006/main" w="9525">
            <a:solidFill>
              <a:srgbClr val="2A3A34"/>
            </a:solidFill>
          </a:ln>
        </p:spPr>
      </p:sp>
      <p:sp>
        <p:nvSpPr>
          <p:cNvPr id="27" name="">
            <a:extLst xmlns:a="http://schemas.openxmlformats.org/drawingml/2006/main">
              <a:ext uri="{FF2B5EF4-FFF2-40B4-BE49-F238E27FC236}">
                <a16:creationId xmlns:a16="http://schemas.microsoft.com/office/drawing/2014/main" id="{C747FF05-CEB7-4AA4-BBB3-0E12A3314F0D}"/>
              </a:ext>
            </a:extLst>
          </p:cNvPr>
          <p:cNvSpPr>
            <a:spLocks xmlns:a="http://schemas.openxmlformats.org/drawingml/2006/main" noGrp="1"/>
          </p:cNvSpPr>
          <p:nvPr/>
        </p:nvSpPr>
        <p:spPr>
          <a:xfrm xmlns:a="http://schemas.openxmlformats.org/drawingml/2006/main">
            <a:off x="9429750" y="1952625"/>
            <a:ext cx="76200" cy="85725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0F26198-01AB-4CF8-B260-53BC24C8F382}"/>
              </a:ext>
            </a:extLst>
          </p:cNvPr>
          <p:cNvSpPr>
            <a:spLocks xmlns:a="http://schemas.openxmlformats.org/drawingml/2006/main" noGrp="1"/>
          </p:cNvSpPr>
          <p:nvPr/>
        </p:nvSpPr>
        <p:spPr>
          <a:xfrm xmlns:a="http://schemas.openxmlformats.org/drawingml/2006/main">
            <a:off x="9658350" y="206692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7FBF8"/>
                </a:solidFill>
                <a:latin typeface="Arial"/>
                <a:ea typeface="Arial"/>
                <a:cs typeface="Arial"/>
              </a:defRPr>
            </a:pPr>
            <a:r>
              <a:rPr sz="1500" b="1">
                <a:solidFill>
                  <a:srgbClr val="F7FBF8"/>
                </a:solidFill>
                <a:latin typeface="Arial"/>
                <a:ea typeface="Arial"/>
                <a:cs typeface="Arial"/>
              </a:rPr>
              <a:t>Private R2</a:t>
            </a:r>
          </a:p>
        </p:txBody>
      </p:sp>
      <p:sp>
        <p:nvSpPr>
          <p:cNvPr id="29" name="">
            <a:extLst xmlns:a="http://schemas.openxmlformats.org/drawingml/2006/main">
              <a:ext uri="{FF2B5EF4-FFF2-40B4-BE49-F238E27FC236}">
                <a16:creationId xmlns:a16="http://schemas.microsoft.com/office/drawing/2014/main" id="{9F86051E-2809-4183-B642-04799361D566}"/>
              </a:ext>
            </a:extLst>
          </p:cNvPr>
          <p:cNvSpPr>
            <a:spLocks xmlns:a="http://schemas.openxmlformats.org/drawingml/2006/main" noGrp="1"/>
          </p:cNvSpPr>
          <p:nvPr/>
        </p:nvSpPr>
        <p:spPr>
          <a:xfrm xmlns:a="http://schemas.openxmlformats.org/drawingml/2006/main">
            <a:off x="9658350" y="256222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Jaunie WebP faili</a:t>
            </a:r>
          </a:p>
        </p:txBody>
      </p:sp>
      <p:sp>
        <p:nvSpPr>
          <p:cNvPr id="30" name="">
            <a:extLst xmlns:a="http://schemas.openxmlformats.org/drawingml/2006/main">
              <a:ext uri="{FF2B5EF4-FFF2-40B4-BE49-F238E27FC236}">
                <a16:creationId xmlns:a16="http://schemas.microsoft.com/office/drawing/2014/main" id="{2368FD9A-CAFF-4933-90E4-AAAB885B16F8}"/>
              </a:ext>
            </a:extLst>
          </p:cNvPr>
          <p:cNvSpPr>
            <a:spLocks xmlns:a="http://schemas.openxmlformats.org/drawingml/2006/main" noGrp="1"/>
          </p:cNvSpPr>
          <p:nvPr/>
        </p:nvSpPr>
        <p:spPr>
          <a:xfrm xmlns:a="http://schemas.openxmlformats.org/drawingml/2006/main">
            <a:off x="9429750" y="3381375"/>
            <a:ext cx="2095500" cy="857250"/>
          </a:xfrm>
          <a:prstGeom xmlns:a="http://schemas.openxmlformats.org/drawingml/2006/main" prst="roundRect">
            <a:avLst>
              <a:gd name="adj" fmla="val 11111"/>
            </a:avLst>
          </a:prstGeom>
          <a:solidFill xmlns:a="http://schemas.openxmlformats.org/drawingml/2006/main">
            <a:srgbClr val="121A18"/>
          </a:solidFill>
          <a:ln xmlns:a="http://schemas.openxmlformats.org/drawingml/2006/main" w="9525">
            <a:solidFill>
              <a:srgbClr val="2A3A34"/>
            </a:solidFill>
          </a:ln>
        </p:spPr>
      </p:sp>
      <p:sp>
        <p:nvSpPr>
          <p:cNvPr id="31" name="">
            <a:extLst xmlns:a="http://schemas.openxmlformats.org/drawingml/2006/main">
              <a:ext uri="{FF2B5EF4-FFF2-40B4-BE49-F238E27FC236}">
                <a16:creationId xmlns:a16="http://schemas.microsoft.com/office/drawing/2014/main" id="{D0C42097-4284-4F12-B41D-3682F9B65E92}"/>
              </a:ext>
            </a:extLst>
          </p:cNvPr>
          <p:cNvSpPr>
            <a:spLocks xmlns:a="http://schemas.openxmlformats.org/drawingml/2006/main" noGrp="1"/>
          </p:cNvSpPr>
          <p:nvPr/>
        </p:nvSpPr>
        <p:spPr>
          <a:xfrm xmlns:a="http://schemas.openxmlformats.org/drawingml/2006/main">
            <a:off x="9429750" y="3381375"/>
            <a:ext cx="76200" cy="85725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5121C70-DA20-4FB1-B27A-151685319D5B}"/>
              </a:ext>
            </a:extLst>
          </p:cNvPr>
          <p:cNvSpPr>
            <a:spLocks xmlns:a="http://schemas.openxmlformats.org/drawingml/2006/main" noGrp="1"/>
          </p:cNvSpPr>
          <p:nvPr/>
        </p:nvSpPr>
        <p:spPr>
          <a:xfrm xmlns:a="http://schemas.openxmlformats.org/drawingml/2006/main">
            <a:off x="9658350" y="349567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F7FBF8"/>
                </a:solidFill>
                <a:latin typeface="Arial"/>
                <a:ea typeface="Arial"/>
                <a:cs typeface="Arial"/>
              </a:defRPr>
            </a:pPr>
            <a:r>
              <a:rPr sz="1500" b="1">
                <a:solidFill>
                  <a:srgbClr val="F7FBF8"/>
                </a:solidFill>
                <a:latin typeface="Arial"/>
                <a:ea typeface="Arial"/>
                <a:cs typeface="Arial"/>
              </a:rPr>
              <a:t>Supabase Storage</a:t>
            </a:r>
          </a:p>
        </p:txBody>
      </p:sp>
      <p:sp>
        <p:nvSpPr>
          <p:cNvPr id="33" name="">
            <a:extLst xmlns:a="http://schemas.openxmlformats.org/drawingml/2006/main">
              <a:ext uri="{FF2B5EF4-FFF2-40B4-BE49-F238E27FC236}">
                <a16:creationId xmlns:a16="http://schemas.microsoft.com/office/drawing/2014/main" id="{03DB9FA6-AA79-4159-B87A-DAEC42DA7FF2}"/>
              </a:ext>
            </a:extLst>
          </p:cNvPr>
          <p:cNvSpPr>
            <a:spLocks xmlns:a="http://schemas.openxmlformats.org/drawingml/2006/main" noGrp="1"/>
          </p:cNvSpPr>
          <p:nvPr/>
        </p:nvSpPr>
        <p:spPr>
          <a:xfrm xmlns:a="http://schemas.openxmlformats.org/drawingml/2006/main">
            <a:off x="9658350" y="3990975"/>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Veco failu saderība</a:t>
            </a:r>
          </a:p>
        </p:txBody>
      </p:sp>
      <p:sp>
        <p:nvSpPr>
          <p:cNvPr id="34" name="">
            <a:extLst xmlns:a="http://schemas.openxmlformats.org/drawingml/2006/main">
              <a:ext uri="{FF2B5EF4-FFF2-40B4-BE49-F238E27FC236}">
                <a16:creationId xmlns:a16="http://schemas.microsoft.com/office/drawing/2014/main" id="{24289343-24AA-417E-B30E-3CAE050E70F4}"/>
              </a:ext>
            </a:extLst>
          </p:cNvPr>
          <p:cNvSpPr>
            <a:spLocks xmlns:a="http://schemas.openxmlformats.org/drawingml/2006/main" noGrp="1"/>
          </p:cNvSpPr>
          <p:nvPr/>
        </p:nvSpPr>
        <p:spPr>
          <a:xfrm xmlns:a="http://schemas.openxmlformats.org/drawingml/2006/main">
            <a:off x="609600" y="36957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AFC0B8"/>
                </a:solidFill>
                <a:latin typeface="Arial"/>
                <a:ea typeface="Arial"/>
                <a:cs typeface="Arial"/>
              </a:defRPr>
            </a:pPr>
            <a:r>
              <a:rPr sz="1050" b="1">
                <a:solidFill>
                  <a:srgbClr val="AFC0B8"/>
                </a:solidFill>
                <a:latin typeface="Arial"/>
                <a:ea typeface="Arial"/>
                <a:cs typeface="Arial"/>
              </a:rPr>
              <a:t>Pārlūks</a:t>
            </a:r>
          </a:p>
        </p:txBody>
      </p:sp>
      <p:sp>
        <p:nvSpPr>
          <p:cNvPr id="35" name="">
            <a:extLst xmlns:a="http://schemas.openxmlformats.org/drawingml/2006/main">
              <a:ext uri="{FF2B5EF4-FFF2-40B4-BE49-F238E27FC236}">
                <a16:creationId xmlns:a16="http://schemas.microsoft.com/office/drawing/2014/main" id="{44636881-0967-4C14-9000-9F506CD831A3}"/>
              </a:ext>
            </a:extLst>
          </p:cNvPr>
          <p:cNvSpPr>
            <a:spLocks xmlns:a="http://schemas.openxmlformats.org/drawingml/2006/main" noGrp="1"/>
          </p:cNvSpPr>
          <p:nvPr/>
        </p:nvSpPr>
        <p:spPr>
          <a:xfrm xmlns:a="http://schemas.openxmlformats.org/drawingml/2006/main">
            <a:off x="609600" y="402907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58D68D"/>
                </a:solidFill>
                <a:latin typeface="Arial"/>
                <a:ea typeface="Arial"/>
                <a:cs typeface="Arial"/>
              </a:defRPr>
            </a:pPr>
            <a:r>
              <a:rPr sz="975" b="0">
                <a:solidFill>
                  <a:srgbClr val="58D68D"/>
                </a:solidFill>
                <a:latin typeface="Arial"/>
                <a:ea typeface="Arial"/>
                <a:cs typeface="Arial"/>
              </a:rPr>
              <a:t>Publicējams</a:t>
            </a:r>
          </a:p>
        </p:txBody>
      </p:sp>
      <p:sp>
        <p:nvSpPr>
          <p:cNvPr id="36" name="">
            <a:extLst xmlns:a="http://schemas.openxmlformats.org/drawingml/2006/main">
              <a:ext uri="{FF2B5EF4-FFF2-40B4-BE49-F238E27FC236}">
                <a16:creationId xmlns:a16="http://schemas.microsoft.com/office/drawing/2014/main" id="{6AE6F310-2F74-494A-8641-E09ED06EC2F9}"/>
              </a:ext>
            </a:extLst>
          </p:cNvPr>
          <p:cNvSpPr>
            <a:spLocks xmlns:a="http://schemas.openxmlformats.org/drawingml/2006/main" noGrp="1"/>
          </p:cNvSpPr>
          <p:nvPr/>
        </p:nvSpPr>
        <p:spPr>
          <a:xfrm xmlns:a="http://schemas.openxmlformats.org/drawingml/2006/main">
            <a:off x="6191250" y="36957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AFC0B8"/>
                </a:solidFill>
                <a:latin typeface="Arial"/>
                <a:ea typeface="Arial"/>
                <a:cs typeface="Arial"/>
              </a:defRPr>
            </a:pPr>
            <a:r>
              <a:rPr sz="1050" b="1">
                <a:solidFill>
                  <a:srgbClr val="AFC0B8"/>
                </a:solidFill>
                <a:latin typeface="Arial"/>
                <a:ea typeface="Arial"/>
                <a:cs typeface="Arial"/>
              </a:rPr>
              <a:t>Servera robeža</a:t>
            </a:r>
          </a:p>
        </p:txBody>
      </p:sp>
      <p:sp>
        <p:nvSpPr>
          <p:cNvPr id="37" name="">
            <a:extLst xmlns:a="http://schemas.openxmlformats.org/drawingml/2006/main">
              <a:ext uri="{FF2B5EF4-FFF2-40B4-BE49-F238E27FC236}">
                <a16:creationId xmlns:a16="http://schemas.microsoft.com/office/drawing/2014/main" id="{C836687D-AF2E-410E-BFF2-888C0D054E42}"/>
              </a:ext>
            </a:extLst>
          </p:cNvPr>
          <p:cNvSpPr>
            <a:spLocks xmlns:a="http://schemas.openxmlformats.org/drawingml/2006/main" noGrp="1"/>
          </p:cNvSpPr>
          <p:nvPr/>
        </p:nvSpPr>
        <p:spPr>
          <a:xfrm xmlns:a="http://schemas.openxmlformats.org/drawingml/2006/main">
            <a:off x="6191250" y="402907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58D68D"/>
                </a:solidFill>
                <a:latin typeface="Arial"/>
                <a:ea typeface="Arial"/>
                <a:cs typeface="Arial"/>
              </a:defRPr>
            </a:pPr>
            <a:r>
              <a:rPr sz="975" b="0">
                <a:solidFill>
                  <a:srgbClr val="58D68D"/>
                </a:solidFill>
                <a:latin typeface="Arial"/>
                <a:ea typeface="Arial"/>
                <a:cs typeface="Arial"/>
              </a:rPr>
              <a:t>Noslēpumi tikai šeit</a:t>
            </a:r>
          </a:p>
        </p:txBody>
      </p:sp>
      <p:sp>
        <p:nvSpPr>
          <p:cNvPr id="38" name="">
            <a:extLst xmlns:a="http://schemas.openxmlformats.org/drawingml/2006/main">
              <a:ext uri="{FF2B5EF4-FFF2-40B4-BE49-F238E27FC236}">
                <a16:creationId xmlns:a16="http://schemas.microsoft.com/office/drawing/2014/main" id="{F9716333-67A8-40FD-832F-68BCA7E9FFF0}"/>
              </a:ext>
            </a:extLst>
          </p:cNvPr>
          <p:cNvSpPr>
            <a:spLocks xmlns:a="http://schemas.openxmlformats.org/drawingml/2006/main" noGrp="1"/>
          </p:cNvSpPr>
          <p:nvPr/>
        </p:nvSpPr>
        <p:spPr>
          <a:xfrm xmlns:a="http://schemas.openxmlformats.org/drawingml/2006/main">
            <a:off x="9429750" y="469582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AFC0B8"/>
                </a:solidFill>
                <a:latin typeface="Arial"/>
                <a:ea typeface="Arial"/>
                <a:cs typeface="Arial"/>
              </a:defRPr>
            </a:pPr>
            <a:r>
              <a:rPr sz="1050" b="1">
                <a:solidFill>
                  <a:srgbClr val="AFC0B8"/>
                </a:solidFill>
                <a:latin typeface="Arial"/>
                <a:ea typeface="Arial"/>
                <a:cs typeface="Arial"/>
              </a:rPr>
              <a:t>Datu un failu slānis</a:t>
            </a:r>
          </a:p>
        </p:txBody>
      </p:sp>
      <p:sp>
        <p:nvSpPr>
          <p:cNvPr id="39" name="">
            <a:extLst xmlns:a="http://schemas.openxmlformats.org/drawingml/2006/main">
              <a:ext uri="{FF2B5EF4-FFF2-40B4-BE49-F238E27FC236}">
                <a16:creationId xmlns:a16="http://schemas.microsoft.com/office/drawing/2014/main" id="{44F816BE-34EE-43EE-AA49-6DD263714FAA}"/>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594B5B0-4C96-40AB-82E3-F0917B55DCE2}"/>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41" name="">
            <a:extLst xmlns:a="http://schemas.openxmlformats.org/drawingml/2006/main">
              <a:ext uri="{FF2B5EF4-FFF2-40B4-BE49-F238E27FC236}">
                <a16:creationId xmlns:a16="http://schemas.microsoft.com/office/drawing/2014/main" id="{5AE85440-361B-41F2-AAE0-9910F3CE3EE4}"/>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04</a:t>
            </a:r>
          </a:p>
        </p:txBody>
      </p:sp>
    </p:spTree>
    <p:extLst>
      <p:ext uri="{BB962C8B-B14F-4D97-AF65-F5344CB8AC3E}">
        <p14:creationId xmlns:p14="http://schemas.microsoft.com/office/powerpoint/2010/main" val="1059143942"/>
      </p:ext>
    </p:extLst>
  </p:cSld>
</p:sld>
</file>

<file path=ppt/slides/slide5.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D32A06-0173-4E6B-BC29-FE1151648C5A}"/>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04 · DROŠĪBAS MODELIS</a:t>
            </a:r>
          </a:p>
        </p:txBody>
      </p:sp>
      <p:sp>
        <p:nvSpPr>
          <p:cNvPr id="2" name="">
            <a:extLst xmlns:a="http://schemas.openxmlformats.org/drawingml/2006/main">
              <a:ext uri="{FF2B5EF4-FFF2-40B4-BE49-F238E27FC236}">
                <a16:creationId xmlns:a16="http://schemas.microsoft.com/office/drawing/2014/main" id="{3CD735AB-62F7-49DB-9F5B-48A7DE990BF0}"/>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Pieeja balstās uz tiesībām, nevis uz slēptu URL</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f570ccd748a4294"/>
          <a:stretch xmlns:a="http://schemas.openxmlformats.org/drawingml/2006/main"/>
        </p:blipFill>
        <p:spPr>
          <a:xfrm xmlns:a="http://schemas.openxmlformats.org/drawingml/2006/main">
            <a:off x="6286500" y="2578534"/>
            <a:ext cx="5143500" cy="2062883"/>
          </a:xfrm>
          <a:prstGeom xmlns:a="http://schemas.openxmlformats.org/drawingml/2006/main" prst="roundRect">
            <a:avLst>
              <a:gd name="adj" fmla="val 2646"/>
            </a:avLst>
          </a:prstGeom>
        </p:spPr>
      </p:pic>
      <p:sp>
        <p:nvSpPr>
          <p:cNvPr id="4" name="">
            <a:extLst xmlns:a="http://schemas.openxmlformats.org/drawingml/2006/main">
              <a:ext uri="{FF2B5EF4-FFF2-40B4-BE49-F238E27FC236}">
                <a16:creationId xmlns:a16="http://schemas.microsoft.com/office/drawing/2014/main" id="{68D5A5A7-91E0-44A7-86E4-821FF8815FF8}"/>
              </a:ext>
            </a:extLst>
          </p:cNvPr>
          <p:cNvSpPr>
            <a:spLocks xmlns:a="http://schemas.openxmlformats.org/drawingml/2006/main" noGrp="1"/>
          </p:cNvSpPr>
          <p:nvPr/>
        </p:nvSpPr>
        <p:spPr>
          <a:xfrm xmlns:a="http://schemas.openxmlformats.org/drawingml/2006/main">
            <a:off x="609600" y="195262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JWT</a:t>
            </a:r>
          </a:p>
        </p:txBody>
      </p:sp>
      <p:sp>
        <p:nvSpPr>
          <p:cNvPr id="5" name="">
            <a:extLst xmlns:a="http://schemas.openxmlformats.org/drawingml/2006/main">
              <a:ext uri="{FF2B5EF4-FFF2-40B4-BE49-F238E27FC236}">
                <a16:creationId xmlns:a16="http://schemas.microsoft.com/office/drawing/2014/main" id="{C7F5044C-6D96-49D2-8978-7BF578CA080B}"/>
              </a:ext>
            </a:extLst>
          </p:cNvPr>
          <p:cNvSpPr>
            <a:spLocks xmlns:a="http://schemas.openxmlformats.org/drawingml/2006/main" noGrp="1"/>
          </p:cNvSpPr>
          <p:nvPr/>
        </p:nvSpPr>
        <p:spPr>
          <a:xfrm xmlns:a="http://schemas.openxmlformats.org/drawingml/2006/main">
            <a:off x="1676400" y="19335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Supabase Auth pierāda organizatora identitāti.</a:t>
            </a:r>
          </a:p>
        </p:txBody>
      </p:sp>
      <p:sp>
        <p:nvSpPr>
          <p:cNvPr id="6" name="">
            <a:extLst xmlns:a="http://schemas.openxmlformats.org/drawingml/2006/main">
              <a:ext uri="{FF2B5EF4-FFF2-40B4-BE49-F238E27FC236}">
                <a16:creationId xmlns:a16="http://schemas.microsoft.com/office/drawing/2014/main" id="{6F76A7F7-6D5B-4E4F-9621-A088BB62769E}"/>
              </a:ext>
            </a:extLst>
          </p:cNvPr>
          <p:cNvSpPr>
            <a:spLocks xmlns:a="http://schemas.openxmlformats.org/drawingml/2006/main" noGrp="1"/>
          </p:cNvSpPr>
          <p:nvPr/>
        </p:nvSpPr>
        <p:spPr>
          <a:xfrm xmlns:a="http://schemas.openxmlformats.org/drawingml/2006/main">
            <a:off x="609600" y="270510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RLS</a:t>
            </a:r>
          </a:p>
        </p:txBody>
      </p:sp>
      <p:sp>
        <p:nvSpPr>
          <p:cNvPr id="7" name="">
            <a:extLst xmlns:a="http://schemas.openxmlformats.org/drawingml/2006/main">
              <a:ext uri="{FF2B5EF4-FFF2-40B4-BE49-F238E27FC236}">
                <a16:creationId xmlns:a16="http://schemas.microsoft.com/office/drawing/2014/main" id="{82DB95A6-A33B-4E0B-B300-2683EE9035AD}"/>
              </a:ext>
            </a:extLst>
          </p:cNvPr>
          <p:cNvSpPr>
            <a:spLocks xmlns:a="http://schemas.openxmlformats.org/drawingml/2006/main" noGrp="1"/>
          </p:cNvSpPr>
          <p:nvPr/>
        </p:nvSpPr>
        <p:spPr>
          <a:xfrm xmlns:a="http://schemas.openxmlformats.org/drawingml/2006/main">
            <a:off x="1676400" y="26860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Katrs organizators redz tikai savu eventu rindas.</a:t>
            </a:r>
          </a:p>
        </p:txBody>
      </p:sp>
      <p:sp>
        <p:nvSpPr>
          <p:cNvPr id="8" name="">
            <a:extLst xmlns:a="http://schemas.openxmlformats.org/drawingml/2006/main">
              <a:ext uri="{FF2B5EF4-FFF2-40B4-BE49-F238E27FC236}">
                <a16:creationId xmlns:a16="http://schemas.microsoft.com/office/drawing/2014/main" id="{9A8682B8-5227-4107-A2E1-663A52F8D307}"/>
              </a:ext>
            </a:extLst>
          </p:cNvPr>
          <p:cNvSpPr>
            <a:spLocks xmlns:a="http://schemas.openxmlformats.org/drawingml/2006/main" noGrp="1"/>
          </p:cNvSpPr>
          <p:nvPr/>
        </p:nvSpPr>
        <p:spPr>
          <a:xfrm xmlns:a="http://schemas.openxmlformats.org/drawingml/2006/main">
            <a:off x="609600" y="345757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WORKER</a:t>
            </a:r>
          </a:p>
        </p:txBody>
      </p:sp>
      <p:sp>
        <p:nvSpPr>
          <p:cNvPr id="9" name="">
            <a:extLst xmlns:a="http://schemas.openxmlformats.org/drawingml/2006/main">
              <a:ext uri="{FF2B5EF4-FFF2-40B4-BE49-F238E27FC236}">
                <a16:creationId xmlns:a16="http://schemas.microsoft.com/office/drawing/2014/main" id="{EB514565-AF8A-400C-82F9-1CFEBB511054}"/>
              </a:ext>
            </a:extLst>
          </p:cNvPr>
          <p:cNvSpPr>
            <a:spLocks xmlns:a="http://schemas.openxmlformats.org/drawingml/2006/main" noGrp="1"/>
          </p:cNvSpPr>
          <p:nvPr/>
        </p:nvSpPr>
        <p:spPr>
          <a:xfrm xmlns:a="http://schemas.openxmlformats.org/drawingml/2006/main">
            <a:off x="1676400" y="343852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Serveris pārbauda īpašnieku pirms R2 read/delete.</a:t>
            </a:r>
          </a:p>
        </p:txBody>
      </p:sp>
      <p:sp>
        <p:nvSpPr>
          <p:cNvPr id="10" name="">
            <a:extLst xmlns:a="http://schemas.openxmlformats.org/drawingml/2006/main">
              <a:ext uri="{FF2B5EF4-FFF2-40B4-BE49-F238E27FC236}">
                <a16:creationId xmlns:a16="http://schemas.microsoft.com/office/drawing/2014/main" id="{A033C6FC-2E1B-435F-B521-FB4FE89174BD}"/>
              </a:ext>
            </a:extLst>
          </p:cNvPr>
          <p:cNvSpPr>
            <a:spLocks xmlns:a="http://schemas.openxmlformats.org/drawingml/2006/main" noGrp="1"/>
          </p:cNvSpPr>
          <p:nvPr/>
        </p:nvSpPr>
        <p:spPr>
          <a:xfrm xmlns:a="http://schemas.openxmlformats.org/drawingml/2006/main">
            <a:off x="609600" y="4210050"/>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4C95D"/>
                </a:solidFill>
                <a:latin typeface="Arial"/>
                <a:ea typeface="Arial"/>
                <a:cs typeface="Arial"/>
              </a:defRPr>
            </a:pPr>
            <a:r>
              <a:rPr sz="1050" b="1">
                <a:solidFill>
                  <a:srgbClr val="F4C95D"/>
                </a:solidFill>
                <a:latin typeface="Arial"/>
                <a:ea typeface="Arial"/>
                <a:cs typeface="Arial"/>
              </a:rPr>
              <a:t>PRIVATE</a:t>
            </a:r>
          </a:p>
        </p:txBody>
      </p:sp>
      <p:sp>
        <p:nvSpPr>
          <p:cNvPr id="11" name="">
            <a:extLst xmlns:a="http://schemas.openxmlformats.org/drawingml/2006/main">
              <a:ext uri="{FF2B5EF4-FFF2-40B4-BE49-F238E27FC236}">
                <a16:creationId xmlns:a16="http://schemas.microsoft.com/office/drawing/2014/main" id="{D4DB5A90-904F-4488-8E12-F2D4F01F2CF4}"/>
              </a:ext>
            </a:extLst>
          </p:cNvPr>
          <p:cNvSpPr>
            <a:spLocks xmlns:a="http://schemas.openxmlformats.org/drawingml/2006/main" noGrp="1"/>
          </p:cNvSpPr>
          <p:nvPr/>
        </p:nvSpPr>
        <p:spPr>
          <a:xfrm xmlns:a="http://schemas.openxmlformats.org/drawingml/2006/main">
            <a:off x="1676400" y="41910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Bucket publiskā piekļuve ir izslēgta.</a:t>
            </a:r>
          </a:p>
        </p:txBody>
      </p:sp>
      <p:sp>
        <p:nvSpPr>
          <p:cNvPr id="12" name="">
            <a:extLst xmlns:a="http://schemas.openxmlformats.org/drawingml/2006/main">
              <a:ext uri="{FF2B5EF4-FFF2-40B4-BE49-F238E27FC236}">
                <a16:creationId xmlns:a16="http://schemas.microsoft.com/office/drawing/2014/main" id="{B5CD58D0-064D-4B0F-8937-10C3D06F8B7C}"/>
              </a:ext>
            </a:extLst>
          </p:cNvPr>
          <p:cNvSpPr>
            <a:spLocks xmlns:a="http://schemas.openxmlformats.org/drawingml/2006/main" noGrp="1"/>
          </p:cNvSpPr>
          <p:nvPr/>
        </p:nvSpPr>
        <p:spPr>
          <a:xfrm xmlns:a="http://schemas.openxmlformats.org/drawingml/2006/main">
            <a:off x="609600" y="4962525"/>
            <a:ext cx="1000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UUID</a:t>
            </a:r>
          </a:p>
        </p:txBody>
      </p:sp>
      <p:sp>
        <p:nvSpPr>
          <p:cNvPr id="13" name="">
            <a:extLst xmlns:a="http://schemas.openxmlformats.org/drawingml/2006/main">
              <a:ext uri="{FF2B5EF4-FFF2-40B4-BE49-F238E27FC236}">
                <a16:creationId xmlns:a16="http://schemas.microsoft.com/office/drawing/2014/main" id="{D1F1EE30-7FDD-4F76-9A6F-1557BAD7A036}"/>
              </a:ext>
            </a:extLst>
          </p:cNvPr>
          <p:cNvSpPr>
            <a:spLocks xmlns:a="http://schemas.openxmlformats.org/drawingml/2006/main" noGrp="1"/>
          </p:cNvSpPr>
          <p:nvPr/>
        </p:nvSpPr>
        <p:spPr>
          <a:xfrm xmlns:a="http://schemas.openxmlformats.org/drawingml/2006/main">
            <a:off x="1676400" y="4943475"/>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Nosaukums palīdz orientēties; ID nodrošina unikālumu.</a:t>
            </a:r>
          </a:p>
        </p:txBody>
      </p:sp>
      <p:sp>
        <p:nvSpPr>
          <p:cNvPr id="14" name="">
            <a:extLst xmlns:a="http://schemas.openxmlformats.org/drawingml/2006/main">
              <a:ext uri="{FF2B5EF4-FFF2-40B4-BE49-F238E27FC236}">
                <a16:creationId xmlns:a16="http://schemas.microsoft.com/office/drawing/2014/main" id="{0D13212F-A7D6-4068-9B17-FF1C20890AF7}"/>
              </a:ext>
            </a:extLst>
          </p:cNvPr>
          <p:cNvSpPr>
            <a:spLocks xmlns:a="http://schemas.openxmlformats.org/drawingml/2006/main" noGrp="1"/>
          </p:cNvSpPr>
          <p:nvPr/>
        </p:nvSpPr>
        <p:spPr>
          <a:xfrm xmlns:a="http://schemas.openxmlformats.org/drawingml/2006/main">
            <a:off x="609600" y="5829300"/>
            <a:ext cx="27051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5" name="">
            <a:extLst xmlns:a="http://schemas.openxmlformats.org/drawingml/2006/main">
              <a:ext uri="{FF2B5EF4-FFF2-40B4-BE49-F238E27FC236}">
                <a16:creationId xmlns:a16="http://schemas.microsoft.com/office/drawing/2014/main" id="{A174EB1B-1E29-4E48-9E3E-364D03793364}"/>
              </a:ext>
            </a:extLst>
          </p:cNvPr>
          <p:cNvSpPr>
            <a:spLocks xmlns:a="http://schemas.openxmlformats.org/drawingml/2006/main" noGrp="1"/>
          </p:cNvSpPr>
          <p:nvPr/>
        </p:nvSpPr>
        <p:spPr>
          <a:xfrm xmlns:a="http://schemas.openxmlformats.org/drawingml/2006/main">
            <a:off x="704850" y="5895975"/>
            <a:ext cx="2514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4C95D"/>
                </a:solidFill>
                <a:latin typeface="Arial"/>
                <a:ea typeface="Arial"/>
                <a:cs typeface="Arial"/>
              </a:defRPr>
            </a:pPr>
            <a:r>
              <a:rPr sz="975" b="1">
                <a:solidFill>
                  <a:srgbClr val="F4C95D"/>
                </a:solidFill>
                <a:latin typeface="Arial"/>
                <a:ea typeface="Arial"/>
                <a:cs typeface="Arial"/>
              </a:rPr>
              <a:t>SERVICE ROLE NAV FRONTENDĀ</a:t>
            </a:r>
          </a:p>
        </p:txBody>
      </p:sp>
      <p:sp>
        <p:nvSpPr>
          <p:cNvPr id="16" name="">
            <a:extLst xmlns:a="http://schemas.openxmlformats.org/drawingml/2006/main">
              <a:ext uri="{FF2B5EF4-FFF2-40B4-BE49-F238E27FC236}">
                <a16:creationId xmlns:a16="http://schemas.microsoft.com/office/drawing/2014/main" id="{41EE1DF8-5A5B-43DF-B4F9-330B9D00BB8C}"/>
              </a:ext>
            </a:extLst>
          </p:cNvPr>
          <p:cNvSpPr>
            <a:spLocks xmlns:a="http://schemas.openxmlformats.org/drawingml/2006/main" noGrp="1"/>
          </p:cNvSpPr>
          <p:nvPr/>
        </p:nvSpPr>
        <p:spPr>
          <a:xfrm xmlns:a="http://schemas.openxmlformats.org/drawingml/2006/main">
            <a:off x="3467100" y="5829300"/>
            <a:ext cx="22479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7" name="">
            <a:extLst xmlns:a="http://schemas.openxmlformats.org/drawingml/2006/main">
              <a:ext uri="{FF2B5EF4-FFF2-40B4-BE49-F238E27FC236}">
                <a16:creationId xmlns:a16="http://schemas.microsoft.com/office/drawing/2014/main" id="{DD05A730-CFCA-4066-94A9-4C58BA2ADBB4}"/>
              </a:ext>
            </a:extLst>
          </p:cNvPr>
          <p:cNvSpPr>
            <a:spLocks xmlns:a="http://schemas.openxmlformats.org/drawingml/2006/main" noGrp="1"/>
          </p:cNvSpPr>
          <p:nvPr/>
        </p:nvSpPr>
        <p:spPr>
          <a:xfrm xmlns:a="http://schemas.openxmlformats.org/drawingml/2006/main">
            <a:off x="3562350" y="5895975"/>
            <a:ext cx="2057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6ED6DA"/>
                </a:solidFill>
                <a:latin typeface="Arial"/>
                <a:ea typeface="Arial"/>
                <a:cs typeface="Arial"/>
              </a:defRPr>
            </a:pPr>
            <a:r>
              <a:rPr sz="975" b="1">
                <a:solidFill>
                  <a:srgbClr val="6ED6DA"/>
                </a:solidFill>
                <a:latin typeface="Arial"/>
                <a:ea typeface="Arial"/>
                <a:cs typeface="Arial"/>
              </a:rPr>
              <a:t>CORS ≠ AUTORIZĀCIJA</a:t>
            </a:r>
          </a:p>
        </p:txBody>
      </p:sp>
      <p:sp>
        <p:nvSpPr>
          <p:cNvPr id="18" name="">
            <a:extLst xmlns:a="http://schemas.openxmlformats.org/drawingml/2006/main">
              <a:ext uri="{FF2B5EF4-FFF2-40B4-BE49-F238E27FC236}">
                <a16:creationId xmlns:a16="http://schemas.microsoft.com/office/drawing/2014/main" id="{C592198B-18CB-4BC5-A473-CFD4203F2B9E}"/>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72087D1-CC59-4E61-A424-06CF66EE65F2}"/>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20" name="">
            <a:extLst xmlns:a="http://schemas.openxmlformats.org/drawingml/2006/main">
              <a:ext uri="{FF2B5EF4-FFF2-40B4-BE49-F238E27FC236}">
                <a16:creationId xmlns:a16="http://schemas.microsoft.com/office/drawing/2014/main" id="{C5C505C3-866C-4DA5-96AA-09B789B0B2BF}"/>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05</a:t>
            </a:r>
          </a:p>
        </p:txBody>
      </p:sp>
    </p:spTree>
    <p:extLst>
      <p:ext uri="{BB962C8B-B14F-4D97-AF65-F5344CB8AC3E}">
        <p14:creationId xmlns:p14="http://schemas.microsoft.com/office/powerpoint/2010/main" val="1965553490"/>
      </p:ext>
    </p:extLst>
  </p:cSld>
</p:sld>
</file>

<file path=ppt/slides/slide6.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17A95BCF-654F-4AFF-84DD-ADBD6264732D}"/>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05 · FOTO DATU PLŪSMA</a:t>
            </a:r>
          </a:p>
        </p:txBody>
      </p:sp>
      <p:sp>
        <p:nvSpPr>
          <p:cNvPr id="2" name="">
            <a:extLst xmlns:a="http://schemas.openxmlformats.org/drawingml/2006/main">
              <a:ext uri="{FF2B5EF4-FFF2-40B4-BE49-F238E27FC236}">
                <a16:creationId xmlns:a16="http://schemas.microsoft.com/office/drawing/2014/main" id="{E3D37D99-C861-4DDC-A88E-9E1AE6953CF9}"/>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Gatavs foto tikai pēc originala un thumbnail pārbaudes</a:t>
            </a:r>
          </a:p>
        </p:txBody>
      </p:sp>
      <p:sp>
        <p:nvSpPr>
          <p:cNvPr id="3" name="">
            <a:extLst xmlns:a="http://schemas.openxmlformats.org/drawingml/2006/main">
              <a:ext uri="{FF2B5EF4-FFF2-40B4-BE49-F238E27FC236}">
                <a16:creationId xmlns:a16="http://schemas.microsoft.com/office/drawing/2014/main" id="{49F814A9-42CA-4E1B-B91E-962C9D65DC1D}"/>
              </a:ext>
            </a:extLst>
          </p:cNvPr>
          <p:cNvSpPr>
            <a:spLocks xmlns:a="http://schemas.openxmlformats.org/drawingml/2006/main" noGrp="1"/>
          </p:cNvSpPr>
          <p:nvPr/>
        </p:nvSpPr>
        <p:spPr>
          <a:xfrm xmlns:a="http://schemas.openxmlformats.org/drawingml/2006/main">
            <a:off x="2057400" y="3028950"/>
            <a:ext cx="38100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0944C7-CBBB-4271-A492-62ECA4193BA2}"/>
              </a:ext>
            </a:extLst>
          </p:cNvPr>
          <p:cNvSpPr>
            <a:spLocks xmlns:a="http://schemas.openxmlformats.org/drawingml/2006/main" noGrp="1"/>
          </p:cNvSpPr>
          <p:nvPr/>
        </p:nvSpPr>
        <p:spPr>
          <a:xfrm xmlns:a="http://schemas.openxmlformats.org/drawingml/2006/main">
            <a:off x="514350" y="2381250"/>
            <a:ext cx="1543050" cy="1352550"/>
          </a:xfrm>
          <a:prstGeom xmlns:a="http://schemas.openxmlformats.org/drawingml/2006/main" prst="roundRect">
            <a:avLst>
              <a:gd name="adj" fmla="val 7042"/>
            </a:avLst>
          </a:prstGeom>
          <a:solidFill xmlns:a="http://schemas.openxmlformats.org/drawingml/2006/main">
            <a:srgbClr val="121A18"/>
          </a:solidFill>
          <a:ln xmlns:a="http://schemas.openxmlformats.org/drawingml/2006/main" w="9525">
            <a:solidFill>
              <a:srgbClr val="2A3A34"/>
            </a:solidFill>
          </a:ln>
        </p:spPr>
      </p:sp>
      <p:sp>
        <p:nvSpPr>
          <p:cNvPr id="5" name="">
            <a:extLst xmlns:a="http://schemas.openxmlformats.org/drawingml/2006/main">
              <a:ext uri="{FF2B5EF4-FFF2-40B4-BE49-F238E27FC236}">
                <a16:creationId xmlns:a16="http://schemas.microsoft.com/office/drawing/2014/main" id="{A59C453E-2874-41B7-95E7-0D3580893DFF}"/>
              </a:ext>
            </a:extLst>
          </p:cNvPr>
          <p:cNvSpPr>
            <a:spLocks xmlns:a="http://schemas.openxmlformats.org/drawingml/2006/main" noGrp="1"/>
          </p:cNvSpPr>
          <p:nvPr/>
        </p:nvSpPr>
        <p:spPr>
          <a:xfrm xmlns:a="http://schemas.openxmlformats.org/drawingml/2006/main">
            <a:off x="685800" y="2552700"/>
            <a:ext cx="3238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6" name="">
            <a:extLst xmlns:a="http://schemas.openxmlformats.org/drawingml/2006/main">
              <a:ext uri="{FF2B5EF4-FFF2-40B4-BE49-F238E27FC236}">
                <a16:creationId xmlns:a16="http://schemas.microsoft.com/office/drawing/2014/main" id="{F6D6A1A4-2C26-4513-8EC7-F3EC3383EEF4}"/>
              </a:ext>
            </a:extLst>
          </p:cNvPr>
          <p:cNvSpPr>
            <a:spLocks xmlns:a="http://schemas.openxmlformats.org/drawingml/2006/main" noGrp="1"/>
          </p:cNvSpPr>
          <p:nvPr/>
        </p:nvSpPr>
        <p:spPr>
          <a:xfrm xmlns:a="http://schemas.openxmlformats.org/drawingml/2006/main">
            <a:off x="685800" y="26193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58D68D"/>
                </a:solidFill>
                <a:latin typeface="Arial"/>
                <a:ea typeface="Arial"/>
                <a:cs typeface="Arial"/>
              </a:defRPr>
            </a:pPr>
            <a:r>
              <a:rPr sz="1050" b="1">
                <a:solidFill>
                  <a:srgbClr val="58D68D"/>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BCE70B6-CA32-4A64-A1A5-864F5D30793A}"/>
              </a:ext>
            </a:extLst>
          </p:cNvPr>
          <p:cNvSpPr>
            <a:spLocks xmlns:a="http://schemas.openxmlformats.org/drawingml/2006/main" noGrp="1"/>
          </p:cNvSpPr>
          <p:nvPr/>
        </p:nvSpPr>
        <p:spPr>
          <a:xfrm xmlns:a="http://schemas.openxmlformats.org/drawingml/2006/main">
            <a:off x="685800" y="3009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Kamera</a:t>
            </a:r>
          </a:p>
        </p:txBody>
      </p:sp>
      <p:sp>
        <p:nvSpPr>
          <p:cNvPr id="8" name="">
            <a:extLst xmlns:a="http://schemas.openxmlformats.org/drawingml/2006/main">
              <a:ext uri="{FF2B5EF4-FFF2-40B4-BE49-F238E27FC236}">
                <a16:creationId xmlns:a16="http://schemas.microsoft.com/office/drawing/2014/main" id="{78C38553-5BF3-4AB4-B981-8868D86700CA}"/>
              </a:ext>
            </a:extLst>
          </p:cNvPr>
          <p:cNvSpPr>
            <a:spLocks xmlns:a="http://schemas.openxmlformats.org/drawingml/2006/main" noGrp="1"/>
          </p:cNvSpPr>
          <p:nvPr/>
        </p:nvSpPr>
        <p:spPr>
          <a:xfrm xmlns:a="http://schemas.openxmlformats.org/drawingml/2006/main">
            <a:off x="685800" y="334327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image/* fails</a:t>
            </a:r>
          </a:p>
        </p:txBody>
      </p:sp>
      <p:sp>
        <p:nvSpPr>
          <p:cNvPr id="9" name="">
            <a:extLst xmlns:a="http://schemas.openxmlformats.org/drawingml/2006/main">
              <a:ext uri="{FF2B5EF4-FFF2-40B4-BE49-F238E27FC236}">
                <a16:creationId xmlns:a16="http://schemas.microsoft.com/office/drawing/2014/main" id="{144D7F2D-0855-420F-B9FF-B0235CFFC850}"/>
              </a:ext>
            </a:extLst>
          </p:cNvPr>
          <p:cNvSpPr>
            <a:spLocks xmlns:a="http://schemas.openxmlformats.org/drawingml/2006/main" noGrp="1"/>
          </p:cNvSpPr>
          <p:nvPr/>
        </p:nvSpPr>
        <p:spPr>
          <a:xfrm xmlns:a="http://schemas.openxmlformats.org/drawingml/2006/main">
            <a:off x="3981450" y="3028950"/>
            <a:ext cx="38100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FE2670-F7CD-4E3E-A992-42BB0C10AB1D}"/>
              </a:ext>
            </a:extLst>
          </p:cNvPr>
          <p:cNvSpPr>
            <a:spLocks xmlns:a="http://schemas.openxmlformats.org/drawingml/2006/main" noGrp="1"/>
          </p:cNvSpPr>
          <p:nvPr/>
        </p:nvSpPr>
        <p:spPr>
          <a:xfrm xmlns:a="http://schemas.openxmlformats.org/drawingml/2006/main">
            <a:off x="2438400" y="2381250"/>
            <a:ext cx="1543050" cy="1352550"/>
          </a:xfrm>
          <a:prstGeom xmlns:a="http://schemas.openxmlformats.org/drawingml/2006/main" prst="roundRect">
            <a:avLst>
              <a:gd name="adj" fmla="val 7042"/>
            </a:avLst>
          </a:prstGeom>
          <a:solidFill xmlns:a="http://schemas.openxmlformats.org/drawingml/2006/main">
            <a:srgbClr val="121A18"/>
          </a:solidFill>
          <a:ln xmlns:a="http://schemas.openxmlformats.org/drawingml/2006/main" w="9525">
            <a:solidFill>
              <a:srgbClr val="2A3A34"/>
            </a:solidFill>
          </a:ln>
        </p:spPr>
      </p:sp>
      <p:sp>
        <p:nvSpPr>
          <p:cNvPr id="11" name="">
            <a:extLst xmlns:a="http://schemas.openxmlformats.org/drawingml/2006/main">
              <a:ext uri="{FF2B5EF4-FFF2-40B4-BE49-F238E27FC236}">
                <a16:creationId xmlns:a16="http://schemas.microsoft.com/office/drawing/2014/main" id="{2F25C016-F351-4942-A358-2E26B919B064}"/>
              </a:ext>
            </a:extLst>
          </p:cNvPr>
          <p:cNvSpPr>
            <a:spLocks xmlns:a="http://schemas.openxmlformats.org/drawingml/2006/main" noGrp="1"/>
          </p:cNvSpPr>
          <p:nvPr/>
        </p:nvSpPr>
        <p:spPr>
          <a:xfrm xmlns:a="http://schemas.openxmlformats.org/drawingml/2006/main">
            <a:off x="2609850" y="2552700"/>
            <a:ext cx="3238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2" name="">
            <a:extLst xmlns:a="http://schemas.openxmlformats.org/drawingml/2006/main">
              <a:ext uri="{FF2B5EF4-FFF2-40B4-BE49-F238E27FC236}">
                <a16:creationId xmlns:a16="http://schemas.microsoft.com/office/drawing/2014/main" id="{6D69C3A4-8BAC-435A-9C2E-D435BDF02B7F}"/>
              </a:ext>
            </a:extLst>
          </p:cNvPr>
          <p:cNvSpPr>
            <a:spLocks xmlns:a="http://schemas.openxmlformats.org/drawingml/2006/main" noGrp="1"/>
          </p:cNvSpPr>
          <p:nvPr/>
        </p:nvSpPr>
        <p:spPr>
          <a:xfrm xmlns:a="http://schemas.openxmlformats.org/drawingml/2006/main">
            <a:off x="2609850" y="26193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58D68D"/>
                </a:solidFill>
                <a:latin typeface="Arial"/>
                <a:ea typeface="Arial"/>
                <a:cs typeface="Arial"/>
              </a:defRPr>
            </a:pPr>
            <a:r>
              <a:rPr sz="1050" b="1">
                <a:solidFill>
                  <a:srgbClr val="58D68D"/>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C18FDCA2-DE5E-4742-A136-CB0A974559CE}"/>
              </a:ext>
            </a:extLst>
          </p:cNvPr>
          <p:cNvSpPr>
            <a:spLocks xmlns:a="http://schemas.openxmlformats.org/drawingml/2006/main" noGrp="1"/>
          </p:cNvSpPr>
          <p:nvPr/>
        </p:nvSpPr>
        <p:spPr>
          <a:xfrm xmlns:a="http://schemas.openxmlformats.org/drawingml/2006/main">
            <a:off x="2609850" y="3009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WebP</a:t>
            </a:r>
          </a:p>
        </p:txBody>
      </p:sp>
      <p:sp>
        <p:nvSpPr>
          <p:cNvPr id="14" name="">
            <a:extLst xmlns:a="http://schemas.openxmlformats.org/drawingml/2006/main">
              <a:ext uri="{FF2B5EF4-FFF2-40B4-BE49-F238E27FC236}">
                <a16:creationId xmlns:a16="http://schemas.microsoft.com/office/drawing/2014/main" id="{6019E80C-73F8-4D92-AE90-FBA0C16BF6A1}"/>
              </a:ext>
            </a:extLst>
          </p:cNvPr>
          <p:cNvSpPr>
            <a:spLocks xmlns:a="http://schemas.openxmlformats.org/drawingml/2006/main" noGrp="1"/>
          </p:cNvSpPr>
          <p:nvPr/>
        </p:nvSpPr>
        <p:spPr>
          <a:xfrm xmlns:a="http://schemas.openxmlformats.org/drawingml/2006/main">
            <a:off x="2609850" y="334327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optimizācija + thumb</a:t>
            </a:r>
          </a:p>
        </p:txBody>
      </p:sp>
      <p:sp>
        <p:nvSpPr>
          <p:cNvPr id="15" name="">
            <a:extLst xmlns:a="http://schemas.openxmlformats.org/drawingml/2006/main">
              <a:ext uri="{FF2B5EF4-FFF2-40B4-BE49-F238E27FC236}">
                <a16:creationId xmlns:a16="http://schemas.microsoft.com/office/drawing/2014/main" id="{6FFF3D79-DBAB-4ACC-A395-73D02AA3D36F}"/>
              </a:ext>
            </a:extLst>
          </p:cNvPr>
          <p:cNvSpPr>
            <a:spLocks xmlns:a="http://schemas.openxmlformats.org/drawingml/2006/main" noGrp="1"/>
          </p:cNvSpPr>
          <p:nvPr/>
        </p:nvSpPr>
        <p:spPr>
          <a:xfrm xmlns:a="http://schemas.openxmlformats.org/drawingml/2006/main">
            <a:off x="5905500" y="3028950"/>
            <a:ext cx="38100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C4A780-B1F4-42D9-87EE-ECEA65C70B1B}"/>
              </a:ext>
            </a:extLst>
          </p:cNvPr>
          <p:cNvSpPr>
            <a:spLocks xmlns:a="http://schemas.openxmlformats.org/drawingml/2006/main" noGrp="1"/>
          </p:cNvSpPr>
          <p:nvPr/>
        </p:nvSpPr>
        <p:spPr>
          <a:xfrm xmlns:a="http://schemas.openxmlformats.org/drawingml/2006/main">
            <a:off x="4362450" y="2381250"/>
            <a:ext cx="1543050" cy="1352550"/>
          </a:xfrm>
          <a:prstGeom xmlns:a="http://schemas.openxmlformats.org/drawingml/2006/main" prst="roundRect">
            <a:avLst>
              <a:gd name="adj" fmla="val 7042"/>
            </a:avLst>
          </a:prstGeom>
          <a:solidFill xmlns:a="http://schemas.openxmlformats.org/drawingml/2006/main">
            <a:srgbClr val="121A18"/>
          </a:solidFill>
          <a:ln xmlns:a="http://schemas.openxmlformats.org/drawingml/2006/main" w="9525">
            <a:solidFill>
              <a:srgbClr val="2A3A34"/>
            </a:solidFill>
          </a:ln>
        </p:spPr>
      </p:sp>
      <p:sp>
        <p:nvSpPr>
          <p:cNvPr id="17" name="">
            <a:extLst xmlns:a="http://schemas.openxmlformats.org/drawingml/2006/main">
              <a:ext uri="{FF2B5EF4-FFF2-40B4-BE49-F238E27FC236}">
                <a16:creationId xmlns:a16="http://schemas.microsoft.com/office/drawing/2014/main" id="{A77D81E9-8D25-478C-9B49-B9BD75B06ABF}"/>
              </a:ext>
            </a:extLst>
          </p:cNvPr>
          <p:cNvSpPr>
            <a:spLocks xmlns:a="http://schemas.openxmlformats.org/drawingml/2006/main" noGrp="1"/>
          </p:cNvSpPr>
          <p:nvPr/>
        </p:nvSpPr>
        <p:spPr>
          <a:xfrm xmlns:a="http://schemas.openxmlformats.org/drawingml/2006/main">
            <a:off x="4533900" y="2552700"/>
            <a:ext cx="3238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8" name="">
            <a:extLst xmlns:a="http://schemas.openxmlformats.org/drawingml/2006/main">
              <a:ext uri="{FF2B5EF4-FFF2-40B4-BE49-F238E27FC236}">
                <a16:creationId xmlns:a16="http://schemas.microsoft.com/office/drawing/2014/main" id="{034903C2-0D4C-4BBC-8740-2C7141A44071}"/>
              </a:ext>
            </a:extLst>
          </p:cNvPr>
          <p:cNvSpPr>
            <a:spLocks xmlns:a="http://schemas.openxmlformats.org/drawingml/2006/main" noGrp="1"/>
          </p:cNvSpPr>
          <p:nvPr/>
        </p:nvSpPr>
        <p:spPr>
          <a:xfrm xmlns:a="http://schemas.openxmlformats.org/drawingml/2006/main">
            <a:off x="4533900" y="26193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58D68D"/>
                </a:solidFill>
                <a:latin typeface="Arial"/>
                <a:ea typeface="Arial"/>
                <a:cs typeface="Arial"/>
              </a:defRPr>
            </a:pPr>
            <a:r>
              <a:rPr sz="1050" b="1">
                <a:solidFill>
                  <a:srgbClr val="58D68D"/>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51DDE64A-17DD-47FE-A279-0E9567E950A7}"/>
              </a:ext>
            </a:extLst>
          </p:cNvPr>
          <p:cNvSpPr>
            <a:spLocks xmlns:a="http://schemas.openxmlformats.org/drawingml/2006/main" noGrp="1"/>
          </p:cNvSpPr>
          <p:nvPr/>
        </p:nvSpPr>
        <p:spPr>
          <a:xfrm xmlns:a="http://schemas.openxmlformats.org/drawingml/2006/main">
            <a:off x="4533900" y="3009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Pending</a:t>
            </a:r>
          </a:p>
        </p:txBody>
      </p:sp>
      <p:sp>
        <p:nvSpPr>
          <p:cNvPr id="20" name="">
            <a:extLst xmlns:a="http://schemas.openxmlformats.org/drawingml/2006/main">
              <a:ext uri="{FF2B5EF4-FFF2-40B4-BE49-F238E27FC236}">
                <a16:creationId xmlns:a16="http://schemas.microsoft.com/office/drawing/2014/main" id="{FA545253-43AC-4C52-8B31-4C84A0CFE9C8}"/>
              </a:ext>
            </a:extLst>
          </p:cNvPr>
          <p:cNvSpPr>
            <a:spLocks xmlns:a="http://schemas.openxmlformats.org/drawingml/2006/main" noGrp="1"/>
          </p:cNvSpPr>
          <p:nvPr/>
        </p:nvSpPr>
        <p:spPr>
          <a:xfrm xmlns:a="http://schemas.openxmlformats.org/drawingml/2006/main">
            <a:off x="4533900" y="334327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media rezervācija</a:t>
            </a:r>
          </a:p>
        </p:txBody>
      </p:sp>
      <p:sp>
        <p:nvSpPr>
          <p:cNvPr id="21" name="">
            <a:extLst xmlns:a="http://schemas.openxmlformats.org/drawingml/2006/main">
              <a:ext uri="{FF2B5EF4-FFF2-40B4-BE49-F238E27FC236}">
                <a16:creationId xmlns:a16="http://schemas.microsoft.com/office/drawing/2014/main" id="{36400982-8802-4E67-98CE-350BB669688A}"/>
              </a:ext>
            </a:extLst>
          </p:cNvPr>
          <p:cNvSpPr>
            <a:spLocks xmlns:a="http://schemas.openxmlformats.org/drawingml/2006/main" noGrp="1"/>
          </p:cNvSpPr>
          <p:nvPr/>
        </p:nvSpPr>
        <p:spPr>
          <a:xfrm xmlns:a="http://schemas.openxmlformats.org/drawingml/2006/main">
            <a:off x="7829550" y="3028950"/>
            <a:ext cx="38100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66D3630-6699-4BF7-A046-955C56F62584}"/>
              </a:ext>
            </a:extLst>
          </p:cNvPr>
          <p:cNvSpPr>
            <a:spLocks xmlns:a="http://schemas.openxmlformats.org/drawingml/2006/main" noGrp="1"/>
          </p:cNvSpPr>
          <p:nvPr/>
        </p:nvSpPr>
        <p:spPr>
          <a:xfrm xmlns:a="http://schemas.openxmlformats.org/drawingml/2006/main">
            <a:off x="6286500" y="2381250"/>
            <a:ext cx="1543050" cy="1352550"/>
          </a:xfrm>
          <a:prstGeom xmlns:a="http://schemas.openxmlformats.org/drawingml/2006/main" prst="roundRect">
            <a:avLst>
              <a:gd name="adj" fmla="val 7042"/>
            </a:avLst>
          </a:prstGeom>
          <a:solidFill xmlns:a="http://schemas.openxmlformats.org/drawingml/2006/main">
            <a:srgbClr val="121A18"/>
          </a:solidFill>
          <a:ln xmlns:a="http://schemas.openxmlformats.org/drawingml/2006/main" w="9525">
            <a:solidFill>
              <a:srgbClr val="2A3A34"/>
            </a:solidFill>
          </a:ln>
        </p:spPr>
      </p:sp>
      <p:sp>
        <p:nvSpPr>
          <p:cNvPr id="23" name="">
            <a:extLst xmlns:a="http://schemas.openxmlformats.org/drawingml/2006/main">
              <a:ext uri="{FF2B5EF4-FFF2-40B4-BE49-F238E27FC236}">
                <a16:creationId xmlns:a16="http://schemas.microsoft.com/office/drawing/2014/main" id="{1E0B3E90-BA0D-415C-B9BA-7E9FB65224F6}"/>
              </a:ext>
            </a:extLst>
          </p:cNvPr>
          <p:cNvSpPr>
            <a:spLocks xmlns:a="http://schemas.openxmlformats.org/drawingml/2006/main" noGrp="1"/>
          </p:cNvSpPr>
          <p:nvPr/>
        </p:nvSpPr>
        <p:spPr>
          <a:xfrm xmlns:a="http://schemas.openxmlformats.org/drawingml/2006/main">
            <a:off x="6457950" y="2552700"/>
            <a:ext cx="3238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24" name="">
            <a:extLst xmlns:a="http://schemas.openxmlformats.org/drawingml/2006/main">
              <a:ext uri="{FF2B5EF4-FFF2-40B4-BE49-F238E27FC236}">
                <a16:creationId xmlns:a16="http://schemas.microsoft.com/office/drawing/2014/main" id="{1BE4C50A-DFB1-4F56-986D-B93D6D071A70}"/>
              </a:ext>
            </a:extLst>
          </p:cNvPr>
          <p:cNvSpPr>
            <a:spLocks xmlns:a="http://schemas.openxmlformats.org/drawingml/2006/main" noGrp="1"/>
          </p:cNvSpPr>
          <p:nvPr/>
        </p:nvSpPr>
        <p:spPr>
          <a:xfrm xmlns:a="http://schemas.openxmlformats.org/drawingml/2006/main">
            <a:off x="6457950" y="26193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58D68D"/>
                </a:solidFill>
                <a:latin typeface="Arial"/>
                <a:ea typeface="Arial"/>
                <a:cs typeface="Arial"/>
              </a:defRPr>
            </a:pPr>
            <a:r>
              <a:rPr sz="1050" b="1">
                <a:solidFill>
                  <a:srgbClr val="58D68D"/>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94C55E1E-4DC4-4F6F-A354-D9E024205A22}"/>
              </a:ext>
            </a:extLst>
          </p:cNvPr>
          <p:cNvSpPr>
            <a:spLocks xmlns:a="http://schemas.openxmlformats.org/drawingml/2006/main" noGrp="1"/>
          </p:cNvSpPr>
          <p:nvPr/>
        </p:nvSpPr>
        <p:spPr>
          <a:xfrm xmlns:a="http://schemas.openxmlformats.org/drawingml/2006/main">
            <a:off x="6457950" y="3009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Presigned PUT</a:t>
            </a:r>
          </a:p>
        </p:txBody>
      </p:sp>
      <p:sp>
        <p:nvSpPr>
          <p:cNvPr id="26" name="">
            <a:extLst xmlns:a="http://schemas.openxmlformats.org/drawingml/2006/main">
              <a:ext uri="{FF2B5EF4-FFF2-40B4-BE49-F238E27FC236}">
                <a16:creationId xmlns:a16="http://schemas.microsoft.com/office/drawing/2014/main" id="{90CCAC7D-E7AE-4F9F-AA68-7AD6E13263CA}"/>
              </a:ext>
            </a:extLst>
          </p:cNvPr>
          <p:cNvSpPr>
            <a:spLocks xmlns:a="http://schemas.openxmlformats.org/drawingml/2006/main" noGrp="1"/>
          </p:cNvSpPr>
          <p:nvPr/>
        </p:nvSpPr>
        <p:spPr>
          <a:xfrm xmlns:a="http://schemas.openxmlformats.org/drawingml/2006/main">
            <a:off x="6457950" y="334327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tieši uz R2</a:t>
            </a:r>
          </a:p>
        </p:txBody>
      </p:sp>
      <p:sp>
        <p:nvSpPr>
          <p:cNvPr id="27" name="">
            <a:extLst xmlns:a="http://schemas.openxmlformats.org/drawingml/2006/main">
              <a:ext uri="{FF2B5EF4-FFF2-40B4-BE49-F238E27FC236}">
                <a16:creationId xmlns:a16="http://schemas.microsoft.com/office/drawing/2014/main" id="{B99600DA-9798-4935-BC3C-FD41C2162E8B}"/>
              </a:ext>
            </a:extLst>
          </p:cNvPr>
          <p:cNvSpPr>
            <a:spLocks xmlns:a="http://schemas.openxmlformats.org/drawingml/2006/main" noGrp="1"/>
          </p:cNvSpPr>
          <p:nvPr/>
        </p:nvSpPr>
        <p:spPr>
          <a:xfrm xmlns:a="http://schemas.openxmlformats.org/drawingml/2006/main">
            <a:off x="9753600" y="3028950"/>
            <a:ext cx="381000" cy="38100"/>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03CE2DA-2190-464B-9508-BA7B1A9CCD4A}"/>
              </a:ext>
            </a:extLst>
          </p:cNvPr>
          <p:cNvSpPr>
            <a:spLocks xmlns:a="http://schemas.openxmlformats.org/drawingml/2006/main" noGrp="1"/>
          </p:cNvSpPr>
          <p:nvPr/>
        </p:nvSpPr>
        <p:spPr>
          <a:xfrm xmlns:a="http://schemas.openxmlformats.org/drawingml/2006/main">
            <a:off x="8210550" y="2381250"/>
            <a:ext cx="1543050" cy="1352550"/>
          </a:xfrm>
          <a:prstGeom xmlns:a="http://schemas.openxmlformats.org/drawingml/2006/main" prst="roundRect">
            <a:avLst>
              <a:gd name="adj" fmla="val 7042"/>
            </a:avLst>
          </a:prstGeom>
          <a:solidFill xmlns:a="http://schemas.openxmlformats.org/drawingml/2006/main">
            <a:srgbClr val="121A18"/>
          </a:solidFill>
          <a:ln xmlns:a="http://schemas.openxmlformats.org/drawingml/2006/main" w="9525">
            <a:solidFill>
              <a:srgbClr val="2A3A34"/>
            </a:solidFill>
          </a:ln>
        </p:spPr>
      </p:sp>
      <p:sp>
        <p:nvSpPr>
          <p:cNvPr id="29" name="">
            <a:extLst xmlns:a="http://schemas.openxmlformats.org/drawingml/2006/main">
              <a:ext uri="{FF2B5EF4-FFF2-40B4-BE49-F238E27FC236}">
                <a16:creationId xmlns:a16="http://schemas.microsoft.com/office/drawing/2014/main" id="{227883F5-8C35-4E0C-8063-3FFAB5C171EF}"/>
              </a:ext>
            </a:extLst>
          </p:cNvPr>
          <p:cNvSpPr>
            <a:spLocks xmlns:a="http://schemas.openxmlformats.org/drawingml/2006/main" noGrp="1"/>
          </p:cNvSpPr>
          <p:nvPr/>
        </p:nvSpPr>
        <p:spPr>
          <a:xfrm xmlns:a="http://schemas.openxmlformats.org/drawingml/2006/main">
            <a:off x="8382000" y="2552700"/>
            <a:ext cx="3238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30" name="">
            <a:extLst xmlns:a="http://schemas.openxmlformats.org/drawingml/2006/main">
              <a:ext uri="{FF2B5EF4-FFF2-40B4-BE49-F238E27FC236}">
                <a16:creationId xmlns:a16="http://schemas.microsoft.com/office/drawing/2014/main" id="{ED07DEEC-1CDB-445E-8EDF-EDB1B03AE0A7}"/>
              </a:ext>
            </a:extLst>
          </p:cNvPr>
          <p:cNvSpPr>
            <a:spLocks xmlns:a="http://schemas.openxmlformats.org/drawingml/2006/main" noGrp="1"/>
          </p:cNvSpPr>
          <p:nvPr/>
        </p:nvSpPr>
        <p:spPr>
          <a:xfrm xmlns:a="http://schemas.openxmlformats.org/drawingml/2006/main">
            <a:off x="8382000" y="26193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58D68D"/>
                </a:solidFill>
                <a:latin typeface="Arial"/>
                <a:ea typeface="Arial"/>
                <a:cs typeface="Arial"/>
              </a:defRPr>
            </a:pPr>
            <a:r>
              <a:rPr sz="1050" b="1">
                <a:solidFill>
                  <a:srgbClr val="58D68D"/>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E9B6D083-E840-4A2B-BECA-7128F7F8EEAA}"/>
              </a:ext>
            </a:extLst>
          </p:cNvPr>
          <p:cNvSpPr>
            <a:spLocks xmlns:a="http://schemas.openxmlformats.org/drawingml/2006/main" noGrp="1"/>
          </p:cNvSpPr>
          <p:nvPr/>
        </p:nvSpPr>
        <p:spPr>
          <a:xfrm xmlns:a="http://schemas.openxmlformats.org/drawingml/2006/main">
            <a:off x="8382000" y="3009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Verify</a:t>
            </a:r>
          </a:p>
        </p:txBody>
      </p:sp>
      <p:sp>
        <p:nvSpPr>
          <p:cNvPr id="32" name="">
            <a:extLst xmlns:a="http://schemas.openxmlformats.org/drawingml/2006/main">
              <a:ext uri="{FF2B5EF4-FFF2-40B4-BE49-F238E27FC236}">
                <a16:creationId xmlns:a16="http://schemas.microsoft.com/office/drawing/2014/main" id="{9A48FD70-AAF4-40E1-9199-AD974056759E}"/>
              </a:ext>
            </a:extLst>
          </p:cNvPr>
          <p:cNvSpPr>
            <a:spLocks xmlns:a="http://schemas.openxmlformats.org/drawingml/2006/main" noGrp="1"/>
          </p:cNvSpPr>
          <p:nvPr/>
        </p:nvSpPr>
        <p:spPr>
          <a:xfrm xmlns:a="http://schemas.openxmlformats.org/drawingml/2006/main">
            <a:off x="8382000" y="334327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izmērs + checksum</a:t>
            </a:r>
          </a:p>
        </p:txBody>
      </p:sp>
      <p:sp>
        <p:nvSpPr>
          <p:cNvPr id="33" name="">
            <a:extLst xmlns:a="http://schemas.openxmlformats.org/drawingml/2006/main">
              <a:ext uri="{FF2B5EF4-FFF2-40B4-BE49-F238E27FC236}">
                <a16:creationId xmlns:a16="http://schemas.microsoft.com/office/drawing/2014/main" id="{B2CD8B7B-37B4-4FEF-A099-95BFE912FECC}"/>
              </a:ext>
            </a:extLst>
          </p:cNvPr>
          <p:cNvSpPr>
            <a:spLocks xmlns:a="http://schemas.openxmlformats.org/drawingml/2006/main" noGrp="1"/>
          </p:cNvSpPr>
          <p:nvPr/>
        </p:nvSpPr>
        <p:spPr>
          <a:xfrm xmlns:a="http://schemas.openxmlformats.org/drawingml/2006/main">
            <a:off x="10134600" y="2381250"/>
            <a:ext cx="1543050" cy="1352550"/>
          </a:xfrm>
          <a:prstGeom xmlns:a="http://schemas.openxmlformats.org/drawingml/2006/main" prst="roundRect">
            <a:avLst>
              <a:gd name="adj" fmla="val 7042"/>
            </a:avLst>
          </a:prstGeom>
          <a:solidFill xmlns:a="http://schemas.openxmlformats.org/drawingml/2006/main">
            <a:srgbClr val="121A18"/>
          </a:solidFill>
          <a:ln xmlns:a="http://schemas.openxmlformats.org/drawingml/2006/main" w="9525">
            <a:solidFill>
              <a:srgbClr val="2A3A34"/>
            </a:solidFill>
          </a:ln>
        </p:spPr>
      </p:sp>
      <p:sp>
        <p:nvSpPr>
          <p:cNvPr id="34" name="">
            <a:extLst xmlns:a="http://schemas.openxmlformats.org/drawingml/2006/main">
              <a:ext uri="{FF2B5EF4-FFF2-40B4-BE49-F238E27FC236}">
                <a16:creationId xmlns:a16="http://schemas.microsoft.com/office/drawing/2014/main" id="{45147364-0DB5-4174-8DD3-8E336FBE236B}"/>
              </a:ext>
            </a:extLst>
          </p:cNvPr>
          <p:cNvSpPr>
            <a:spLocks xmlns:a="http://schemas.openxmlformats.org/drawingml/2006/main" noGrp="1"/>
          </p:cNvSpPr>
          <p:nvPr/>
        </p:nvSpPr>
        <p:spPr>
          <a:xfrm xmlns:a="http://schemas.openxmlformats.org/drawingml/2006/main">
            <a:off x="10306050" y="2552700"/>
            <a:ext cx="323850" cy="32385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9525">
            <a:solidFill>
              <a:srgbClr val="58D68D"/>
            </a:solidFill>
          </a:ln>
        </p:spPr>
      </p:sp>
      <p:sp>
        <p:nvSpPr>
          <p:cNvPr id="35" name="">
            <a:extLst xmlns:a="http://schemas.openxmlformats.org/drawingml/2006/main">
              <a:ext uri="{FF2B5EF4-FFF2-40B4-BE49-F238E27FC236}">
                <a16:creationId xmlns:a16="http://schemas.microsoft.com/office/drawing/2014/main" id="{B5870502-7AAA-4B07-93FB-8694A17FB7FF}"/>
              </a:ext>
            </a:extLst>
          </p:cNvPr>
          <p:cNvSpPr>
            <a:spLocks xmlns:a="http://schemas.openxmlformats.org/drawingml/2006/main" noGrp="1"/>
          </p:cNvSpPr>
          <p:nvPr/>
        </p:nvSpPr>
        <p:spPr>
          <a:xfrm xmlns:a="http://schemas.openxmlformats.org/drawingml/2006/main">
            <a:off x="10306050" y="26193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B1110"/>
                </a:solidFill>
                <a:latin typeface="Arial"/>
                <a:ea typeface="Arial"/>
                <a:cs typeface="Arial"/>
              </a:defRPr>
            </a:pPr>
            <a:r>
              <a:rPr sz="1050" b="1">
                <a:solidFill>
                  <a:srgbClr val="0B1110"/>
                </a:solidFill>
                <a:latin typeface="Arial"/>
                <a:ea typeface="Arial"/>
                <a:cs typeface="Arial"/>
              </a:rPr>
              <a:t>6</a:t>
            </a:r>
          </a:p>
        </p:txBody>
      </p:sp>
      <p:sp>
        <p:nvSpPr>
          <p:cNvPr id="36" name="">
            <a:extLst xmlns:a="http://schemas.openxmlformats.org/drawingml/2006/main">
              <a:ext uri="{FF2B5EF4-FFF2-40B4-BE49-F238E27FC236}">
                <a16:creationId xmlns:a16="http://schemas.microsoft.com/office/drawing/2014/main" id="{4BF828F6-30C1-47F3-A327-A702370469D6}"/>
              </a:ext>
            </a:extLst>
          </p:cNvPr>
          <p:cNvSpPr>
            <a:spLocks xmlns:a="http://schemas.openxmlformats.org/drawingml/2006/main" noGrp="1"/>
          </p:cNvSpPr>
          <p:nvPr/>
        </p:nvSpPr>
        <p:spPr>
          <a:xfrm xmlns:a="http://schemas.openxmlformats.org/drawingml/2006/main">
            <a:off x="10306050" y="3009900"/>
            <a:ext cx="1219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Uploaded</a:t>
            </a:r>
          </a:p>
        </p:txBody>
      </p:sp>
      <p:sp>
        <p:nvSpPr>
          <p:cNvPr id="37" name="">
            <a:extLst xmlns:a="http://schemas.openxmlformats.org/drawingml/2006/main">
              <a:ext uri="{FF2B5EF4-FFF2-40B4-BE49-F238E27FC236}">
                <a16:creationId xmlns:a16="http://schemas.microsoft.com/office/drawing/2014/main" id="{97CA92CB-90D9-4324-8E21-9DE1E1474C8F}"/>
              </a:ext>
            </a:extLst>
          </p:cNvPr>
          <p:cNvSpPr>
            <a:spLocks xmlns:a="http://schemas.openxmlformats.org/drawingml/2006/main" noGrp="1"/>
          </p:cNvSpPr>
          <p:nvPr/>
        </p:nvSpPr>
        <p:spPr>
          <a:xfrm xmlns:a="http://schemas.openxmlformats.org/drawingml/2006/main">
            <a:off x="10306050" y="334327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FC0B8"/>
                </a:solidFill>
                <a:latin typeface="Arial"/>
                <a:ea typeface="Arial"/>
                <a:cs typeface="Arial"/>
              </a:defRPr>
            </a:pPr>
            <a:r>
              <a:rPr sz="975" b="0">
                <a:solidFill>
                  <a:srgbClr val="AFC0B8"/>
                </a:solidFill>
                <a:latin typeface="Arial"/>
                <a:ea typeface="Arial"/>
                <a:cs typeface="Arial"/>
              </a:rPr>
              <a:t>redzams galerijā</a:t>
            </a:r>
          </a:p>
        </p:txBody>
      </p:sp>
      <p:sp>
        <p:nvSpPr>
          <p:cNvPr id="38" name="">
            <a:extLst xmlns:a="http://schemas.openxmlformats.org/drawingml/2006/main">
              <a:ext uri="{FF2B5EF4-FFF2-40B4-BE49-F238E27FC236}">
                <a16:creationId xmlns:a16="http://schemas.microsoft.com/office/drawing/2014/main" id="{83993F87-F833-41A5-A153-B1AC35A1FAF7}"/>
              </a:ext>
            </a:extLst>
          </p:cNvPr>
          <p:cNvSpPr>
            <a:spLocks xmlns:a="http://schemas.openxmlformats.org/drawingml/2006/main" noGrp="1"/>
          </p:cNvSpPr>
          <p:nvPr/>
        </p:nvSpPr>
        <p:spPr>
          <a:xfrm xmlns:a="http://schemas.openxmlformats.org/drawingml/2006/main">
            <a:off x="609600" y="4324350"/>
            <a:ext cx="10972800" cy="1162050"/>
          </a:xfrm>
          <a:prstGeom xmlns:a="http://schemas.openxmlformats.org/drawingml/2006/main" prst="roundRect">
            <a:avLst>
              <a:gd name="adj" fmla="val 8197"/>
            </a:avLst>
          </a:prstGeom>
          <a:solidFill xmlns:a="http://schemas.openxmlformats.org/drawingml/2006/main">
            <a:srgbClr val="18231F"/>
          </a:solidFill>
          <a:ln xmlns:a="http://schemas.openxmlformats.org/drawingml/2006/main" w="9525">
            <a:solidFill>
              <a:srgbClr val="2A3A34"/>
            </a:solidFill>
          </a:ln>
        </p:spPr>
      </p:sp>
      <p:sp>
        <p:nvSpPr>
          <p:cNvPr id="39" name="">
            <a:extLst xmlns:a="http://schemas.openxmlformats.org/drawingml/2006/main">
              <a:ext uri="{FF2B5EF4-FFF2-40B4-BE49-F238E27FC236}">
                <a16:creationId xmlns:a16="http://schemas.microsoft.com/office/drawing/2014/main" id="{C857228E-49E2-4C6C-8E45-C415787EA22F}"/>
              </a:ext>
            </a:extLst>
          </p:cNvPr>
          <p:cNvSpPr>
            <a:spLocks xmlns:a="http://schemas.openxmlformats.org/drawingml/2006/main" noGrp="1"/>
          </p:cNvSpPr>
          <p:nvPr/>
        </p:nvSpPr>
        <p:spPr>
          <a:xfrm xmlns:a="http://schemas.openxmlformats.org/drawingml/2006/main">
            <a:off x="838200" y="4552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8F2D1"/>
                </a:solidFill>
                <a:latin typeface="Arial"/>
                <a:ea typeface="Arial"/>
                <a:cs typeface="Arial"/>
              </a:defRPr>
            </a:pPr>
            <a:r>
              <a:rPr sz="1350" b="1">
                <a:solidFill>
                  <a:srgbClr val="B8F2D1"/>
                </a:solidFill>
                <a:latin typeface="Arial"/>
                <a:ea typeface="Arial"/>
                <a:cs typeface="Arial"/>
              </a:rPr>
              <a:t>Kāpēc tas ir uzticami?</a:t>
            </a:r>
          </a:p>
        </p:txBody>
      </p:sp>
      <p:sp>
        <p:nvSpPr>
          <p:cNvPr id="40" name="">
            <a:extLst xmlns:a="http://schemas.openxmlformats.org/drawingml/2006/main">
              <a:ext uri="{FF2B5EF4-FFF2-40B4-BE49-F238E27FC236}">
                <a16:creationId xmlns:a16="http://schemas.microsoft.com/office/drawing/2014/main" id="{08E37274-829B-4E5B-ADE7-1E37AFF15366}"/>
              </a:ext>
            </a:extLst>
          </p:cNvPr>
          <p:cNvSpPr>
            <a:spLocks xmlns:a="http://schemas.openxmlformats.org/drawingml/2006/main" noGrp="1"/>
          </p:cNvSpPr>
          <p:nvPr/>
        </p:nvSpPr>
        <p:spPr>
          <a:xfrm xmlns:a="http://schemas.openxmlformats.org/drawingml/2006/main">
            <a:off x="838200" y="49149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75" b="1">
                <a:solidFill>
                  <a:srgbClr val="F7FBF8"/>
                </a:solidFill>
                <a:latin typeface="Arial"/>
                <a:ea typeface="Arial"/>
                <a:cs typeface="Arial"/>
              </a:defRPr>
            </a:pPr>
            <a:r>
              <a:rPr sz="1575" b="1">
                <a:solidFill>
                  <a:srgbClr val="F7FBF8"/>
                </a:solidFill>
                <a:latin typeface="Arial"/>
                <a:ea typeface="Arial"/>
                <a:cs typeface="Arial"/>
              </a:rPr>
              <a:t>Retry izmanto to pašu media UUID. Nepabeigts uploads paliek pending un galerijā neparādās. Atkārtota finalize darbība nedublē foto.</a:t>
            </a:r>
          </a:p>
        </p:txBody>
      </p:sp>
      <p:sp>
        <p:nvSpPr>
          <p:cNvPr id="41" name="">
            <a:extLst xmlns:a="http://schemas.openxmlformats.org/drawingml/2006/main">
              <a:ext uri="{FF2B5EF4-FFF2-40B4-BE49-F238E27FC236}">
                <a16:creationId xmlns:a16="http://schemas.microsoft.com/office/drawing/2014/main" id="{62490BAE-0C79-45FF-A410-7A20CB1DBFA2}"/>
              </a:ext>
            </a:extLst>
          </p:cNvPr>
          <p:cNvSpPr>
            <a:spLocks xmlns:a="http://schemas.openxmlformats.org/drawingml/2006/main" noGrp="1"/>
          </p:cNvSpPr>
          <p:nvPr/>
        </p:nvSpPr>
        <p:spPr>
          <a:xfrm xmlns:a="http://schemas.openxmlformats.org/drawingml/2006/main">
            <a:off x="609600" y="5791200"/>
            <a:ext cx="18097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42" name="">
            <a:extLst xmlns:a="http://schemas.openxmlformats.org/drawingml/2006/main">
              <a:ext uri="{FF2B5EF4-FFF2-40B4-BE49-F238E27FC236}">
                <a16:creationId xmlns:a16="http://schemas.microsoft.com/office/drawing/2014/main" id="{C6778E1D-B6FF-4828-8B05-CE9D337C4DA3}"/>
              </a:ext>
            </a:extLst>
          </p:cNvPr>
          <p:cNvSpPr>
            <a:spLocks xmlns:a="http://schemas.openxmlformats.org/drawingml/2006/main" noGrp="1"/>
          </p:cNvSpPr>
          <p:nvPr/>
        </p:nvSpPr>
        <p:spPr>
          <a:xfrm xmlns:a="http://schemas.openxmlformats.org/drawingml/2006/main">
            <a:off x="704850" y="5857875"/>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ORIGINALS ≤ 6 MiB</a:t>
            </a:r>
          </a:p>
        </p:txBody>
      </p:sp>
      <p:sp>
        <p:nvSpPr>
          <p:cNvPr id="43" name="">
            <a:extLst xmlns:a="http://schemas.openxmlformats.org/drawingml/2006/main">
              <a:ext uri="{FF2B5EF4-FFF2-40B4-BE49-F238E27FC236}">
                <a16:creationId xmlns:a16="http://schemas.microsoft.com/office/drawing/2014/main" id="{22577873-E76C-40B3-BD11-FD459BF85498}"/>
              </a:ext>
            </a:extLst>
          </p:cNvPr>
          <p:cNvSpPr>
            <a:spLocks xmlns:a="http://schemas.openxmlformats.org/drawingml/2006/main" noGrp="1"/>
          </p:cNvSpPr>
          <p:nvPr/>
        </p:nvSpPr>
        <p:spPr>
          <a:xfrm xmlns:a="http://schemas.openxmlformats.org/drawingml/2006/main">
            <a:off x="2571750" y="5791200"/>
            <a:ext cx="15811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44" name="">
            <a:extLst xmlns:a="http://schemas.openxmlformats.org/drawingml/2006/main">
              <a:ext uri="{FF2B5EF4-FFF2-40B4-BE49-F238E27FC236}">
                <a16:creationId xmlns:a16="http://schemas.microsoft.com/office/drawing/2014/main" id="{D2B4A1CB-EB64-476D-B2E1-44DCA17B0422}"/>
              </a:ext>
            </a:extLst>
          </p:cNvPr>
          <p:cNvSpPr>
            <a:spLocks xmlns:a="http://schemas.openxmlformats.org/drawingml/2006/main" noGrp="1"/>
          </p:cNvSpPr>
          <p:nvPr/>
        </p:nvSpPr>
        <p:spPr>
          <a:xfrm xmlns:a="http://schemas.openxmlformats.org/drawingml/2006/main">
            <a:off x="2667000" y="5857875"/>
            <a:ext cx="139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THUMB ≤ 1 MiB</a:t>
            </a:r>
          </a:p>
        </p:txBody>
      </p:sp>
      <p:sp>
        <p:nvSpPr>
          <p:cNvPr id="45" name="">
            <a:extLst xmlns:a="http://schemas.openxmlformats.org/drawingml/2006/main">
              <a:ext uri="{FF2B5EF4-FFF2-40B4-BE49-F238E27FC236}">
                <a16:creationId xmlns:a16="http://schemas.microsoft.com/office/drawing/2014/main" id="{750C6DEB-81E3-4872-9BC0-CE5493FAB5F4}"/>
              </a:ext>
            </a:extLst>
          </p:cNvPr>
          <p:cNvSpPr>
            <a:spLocks xmlns:a="http://schemas.openxmlformats.org/drawingml/2006/main" noGrp="1"/>
          </p:cNvSpPr>
          <p:nvPr/>
        </p:nvSpPr>
        <p:spPr>
          <a:xfrm xmlns:a="http://schemas.openxmlformats.org/drawingml/2006/main">
            <a:off x="4305300" y="5791200"/>
            <a:ext cx="12192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46" name="">
            <a:extLst xmlns:a="http://schemas.openxmlformats.org/drawingml/2006/main">
              <a:ext uri="{FF2B5EF4-FFF2-40B4-BE49-F238E27FC236}">
                <a16:creationId xmlns:a16="http://schemas.microsoft.com/office/drawing/2014/main" id="{1B5E3A19-A3B7-4A1E-B9BD-C6898753F7F0}"/>
              </a:ext>
            </a:extLst>
          </p:cNvPr>
          <p:cNvSpPr>
            <a:spLocks xmlns:a="http://schemas.openxmlformats.org/drawingml/2006/main" noGrp="1"/>
          </p:cNvSpPr>
          <p:nvPr/>
        </p:nvSpPr>
        <p:spPr>
          <a:xfrm xmlns:a="http://schemas.openxmlformats.org/drawingml/2006/main">
            <a:off x="4400550" y="5857875"/>
            <a:ext cx="1028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4C95D"/>
                </a:solidFill>
                <a:latin typeface="Arial"/>
                <a:ea typeface="Arial"/>
                <a:cs typeface="Arial"/>
              </a:defRPr>
            </a:pPr>
            <a:r>
              <a:rPr sz="975" b="1">
                <a:solidFill>
                  <a:srgbClr val="F4C95D"/>
                </a:solidFill>
                <a:latin typeface="Arial"/>
                <a:ea typeface="Arial"/>
                <a:cs typeface="Arial"/>
              </a:rPr>
              <a:t>VIDEO NAV</a:t>
            </a:r>
          </a:p>
        </p:txBody>
      </p:sp>
      <p:sp>
        <p:nvSpPr>
          <p:cNvPr id="47" name="">
            <a:extLst xmlns:a="http://schemas.openxmlformats.org/drawingml/2006/main">
              <a:ext uri="{FF2B5EF4-FFF2-40B4-BE49-F238E27FC236}">
                <a16:creationId xmlns:a16="http://schemas.microsoft.com/office/drawing/2014/main" id="{DB59D255-361C-4A1F-801E-0967A1ED648D}"/>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3CE21F2-F7D0-4385-8E9F-D93097234F77}"/>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49" name="">
            <a:extLst xmlns:a="http://schemas.openxmlformats.org/drawingml/2006/main">
              <a:ext uri="{FF2B5EF4-FFF2-40B4-BE49-F238E27FC236}">
                <a16:creationId xmlns:a16="http://schemas.microsoft.com/office/drawing/2014/main" id="{887FE64F-564C-4ECB-993F-7A30E2DB542B}"/>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06</a:t>
            </a:r>
          </a:p>
        </p:txBody>
      </p:sp>
    </p:spTree>
    <p:extLst>
      <p:ext uri="{BB962C8B-B14F-4D97-AF65-F5344CB8AC3E}">
        <p14:creationId xmlns:p14="http://schemas.microsoft.com/office/powerpoint/2010/main" val="1783499839"/>
      </p:ext>
    </p:extLst>
  </p:cSld>
</p:sld>
</file>

<file path=ppt/slides/slide7.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3F58AD2-39E7-4ABE-96ED-33DDE906F75D}"/>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06 · GATAVAIS MVP</a:t>
            </a:r>
          </a:p>
        </p:txBody>
      </p:sp>
      <p:sp>
        <p:nvSpPr>
          <p:cNvPr id="2" name="">
            <a:extLst xmlns:a="http://schemas.openxmlformats.org/drawingml/2006/main">
              <a:ext uri="{FF2B5EF4-FFF2-40B4-BE49-F238E27FC236}">
                <a16:creationId xmlns:a16="http://schemas.microsoft.com/office/drawing/2014/main" id="{5FBD813F-8F30-41F1-9130-6F007A580B57}"/>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Organizatoram pārskatāma galerija, viesim viena poga</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c177a5bd674eb0"/>
          <a:stretch xmlns:a="http://schemas.openxmlformats.org/drawingml/2006/main"/>
        </p:blipFill>
        <p:spPr>
          <a:xfrm xmlns:a="http://schemas.openxmlformats.org/drawingml/2006/main">
            <a:off x="1809134" y="1809750"/>
            <a:ext cx="4668481" cy="4095750"/>
          </a:xfrm>
          <a:prstGeom xmlns:a="http://schemas.openxmlformats.org/drawingml/2006/main" prst="roundRect">
            <a:avLst>
              <a:gd name="adj" fmla="val 2326"/>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d055a8a12ed4ed2"/>
          <a:srcRect xmlns:a="http://schemas.openxmlformats.org/drawingml/2006/main" l="0" t="340" r="0" b="340"/>
          <a:stretch xmlns:a="http://schemas.openxmlformats.org/drawingml/2006/main">
            <a:fillRect l="0" t="0" r="0" b="0"/>
          </a:stretch>
        </p:blipFill>
        <p:spPr>
          <a:xfrm xmlns:a="http://schemas.openxmlformats.org/drawingml/2006/main">
            <a:off x="8048625" y="1809750"/>
            <a:ext cx="3190875" cy="4095750"/>
          </a:xfrm>
          <a:prstGeom xmlns:a="http://schemas.openxmlformats.org/drawingml/2006/main" prst="roundRect">
            <a:avLst>
              <a:gd name="adj" fmla="val 2985"/>
            </a:avLst>
          </a:prstGeom>
        </p:spPr>
      </p:pic>
      <p:sp>
        <p:nvSpPr>
          <p:cNvPr id="5" name="">
            <a:extLst xmlns:a="http://schemas.openxmlformats.org/drawingml/2006/main">
              <a:ext uri="{FF2B5EF4-FFF2-40B4-BE49-F238E27FC236}">
                <a16:creationId xmlns:a16="http://schemas.microsoft.com/office/drawing/2014/main" id="{5C984326-2665-4FEA-A1AA-82D3DCE5C8E0}"/>
              </a:ext>
            </a:extLst>
          </p:cNvPr>
          <p:cNvSpPr>
            <a:spLocks xmlns:a="http://schemas.openxmlformats.org/drawingml/2006/main" noGrp="1"/>
          </p:cNvSpPr>
          <p:nvPr/>
        </p:nvSpPr>
        <p:spPr>
          <a:xfrm xmlns:a="http://schemas.openxmlformats.org/drawingml/2006/main">
            <a:off x="609600" y="5962650"/>
            <a:ext cx="16002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6" name="">
            <a:extLst xmlns:a="http://schemas.openxmlformats.org/drawingml/2006/main">
              <a:ext uri="{FF2B5EF4-FFF2-40B4-BE49-F238E27FC236}">
                <a16:creationId xmlns:a16="http://schemas.microsoft.com/office/drawing/2014/main" id="{8D3C290A-1EEF-477C-A51C-0D6CC2669617}"/>
              </a:ext>
            </a:extLst>
          </p:cNvPr>
          <p:cNvSpPr>
            <a:spLocks xmlns:a="http://schemas.openxmlformats.org/drawingml/2006/main" noGrp="1"/>
          </p:cNvSpPr>
          <p:nvPr/>
        </p:nvSpPr>
        <p:spPr>
          <a:xfrm xmlns:a="http://schemas.openxmlformats.org/drawingml/2006/main">
            <a:off x="704850" y="6029325"/>
            <a:ext cx="1409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17 DALĪBNIEKI</a:t>
            </a:r>
          </a:p>
        </p:txBody>
      </p:sp>
      <p:sp>
        <p:nvSpPr>
          <p:cNvPr id="7" name="">
            <a:extLst xmlns:a="http://schemas.openxmlformats.org/drawingml/2006/main">
              <a:ext uri="{FF2B5EF4-FFF2-40B4-BE49-F238E27FC236}">
                <a16:creationId xmlns:a16="http://schemas.microsoft.com/office/drawing/2014/main" id="{CDF2495B-CDB6-4485-BB18-8F9339C7DB5F}"/>
              </a:ext>
            </a:extLst>
          </p:cNvPr>
          <p:cNvSpPr>
            <a:spLocks xmlns:a="http://schemas.openxmlformats.org/drawingml/2006/main" noGrp="1"/>
          </p:cNvSpPr>
          <p:nvPr/>
        </p:nvSpPr>
        <p:spPr>
          <a:xfrm xmlns:a="http://schemas.openxmlformats.org/drawingml/2006/main">
            <a:off x="2343150" y="5962650"/>
            <a:ext cx="10668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8" name="">
            <a:extLst xmlns:a="http://schemas.openxmlformats.org/drawingml/2006/main">
              <a:ext uri="{FF2B5EF4-FFF2-40B4-BE49-F238E27FC236}">
                <a16:creationId xmlns:a16="http://schemas.microsoft.com/office/drawing/2014/main" id="{7CFC50B5-D469-48D0-ADD0-9BF5762BBE08}"/>
              </a:ext>
            </a:extLst>
          </p:cNvPr>
          <p:cNvSpPr>
            <a:spLocks xmlns:a="http://schemas.openxmlformats.org/drawingml/2006/main" noGrp="1"/>
          </p:cNvSpPr>
          <p:nvPr/>
        </p:nvSpPr>
        <p:spPr>
          <a:xfrm xmlns:a="http://schemas.openxmlformats.org/drawingml/2006/main">
            <a:off x="2438400" y="6029325"/>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6ED6DA"/>
                </a:solidFill>
                <a:latin typeface="Arial"/>
                <a:ea typeface="Arial"/>
                <a:cs typeface="Arial"/>
              </a:defRPr>
            </a:pPr>
            <a:r>
              <a:rPr sz="975" b="1">
                <a:solidFill>
                  <a:srgbClr val="6ED6DA"/>
                </a:solidFill>
                <a:latin typeface="Arial"/>
                <a:ea typeface="Arial"/>
                <a:cs typeface="Arial"/>
              </a:rPr>
              <a:t>57 FOTO</a:t>
            </a:r>
          </a:p>
        </p:txBody>
      </p:sp>
      <p:sp>
        <p:nvSpPr>
          <p:cNvPr id="9" name="">
            <a:extLst xmlns:a="http://schemas.openxmlformats.org/drawingml/2006/main">
              <a:ext uri="{FF2B5EF4-FFF2-40B4-BE49-F238E27FC236}">
                <a16:creationId xmlns:a16="http://schemas.microsoft.com/office/drawing/2014/main" id="{1CF3BE0E-3417-4F05-A469-1941E3148895}"/>
              </a:ext>
            </a:extLst>
          </p:cNvPr>
          <p:cNvSpPr>
            <a:spLocks xmlns:a="http://schemas.openxmlformats.org/drawingml/2006/main" noGrp="1"/>
          </p:cNvSpPr>
          <p:nvPr/>
        </p:nvSpPr>
        <p:spPr>
          <a:xfrm xmlns:a="http://schemas.openxmlformats.org/drawingml/2006/main">
            <a:off x="3543300" y="5962650"/>
            <a:ext cx="163830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10" name="">
            <a:extLst xmlns:a="http://schemas.openxmlformats.org/drawingml/2006/main">
              <a:ext uri="{FF2B5EF4-FFF2-40B4-BE49-F238E27FC236}">
                <a16:creationId xmlns:a16="http://schemas.microsoft.com/office/drawing/2014/main" id="{44AB9E2A-04DF-46D5-A900-7ABF4BC19DE4}"/>
              </a:ext>
            </a:extLst>
          </p:cNvPr>
          <p:cNvSpPr>
            <a:spLocks xmlns:a="http://schemas.openxmlformats.org/drawingml/2006/main" noGrp="1"/>
          </p:cNvSpPr>
          <p:nvPr/>
        </p:nvSpPr>
        <p:spPr>
          <a:xfrm xmlns:a="http://schemas.openxmlformats.org/drawingml/2006/main">
            <a:off x="3638550" y="6029325"/>
            <a:ext cx="1447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4C95D"/>
                </a:solidFill>
                <a:latin typeface="Arial"/>
                <a:ea typeface="Arial"/>
                <a:cs typeface="Arial"/>
              </a:defRPr>
            </a:pPr>
            <a:r>
              <a:rPr sz="975" b="1">
                <a:solidFill>
                  <a:srgbClr val="F4C95D"/>
                </a:solidFill>
                <a:latin typeface="Arial"/>
                <a:ea typeface="Arial"/>
                <a:cs typeface="Arial"/>
              </a:rPr>
              <a:t>3 DIENU EVENTS</a:t>
            </a:r>
          </a:p>
        </p:txBody>
      </p:sp>
      <p:sp>
        <p:nvSpPr>
          <p:cNvPr id="11" name="">
            <a:extLst xmlns:a="http://schemas.openxmlformats.org/drawingml/2006/main">
              <a:ext uri="{FF2B5EF4-FFF2-40B4-BE49-F238E27FC236}">
                <a16:creationId xmlns:a16="http://schemas.microsoft.com/office/drawing/2014/main" id="{AE461F35-5B97-4187-A1E4-A365C7BD6997}"/>
              </a:ext>
            </a:extLst>
          </p:cNvPr>
          <p:cNvSpPr>
            <a:spLocks xmlns:a="http://schemas.openxmlformats.org/drawingml/2006/main" noGrp="1"/>
          </p:cNvSpPr>
          <p:nvPr/>
        </p:nvSpPr>
        <p:spPr>
          <a:xfrm xmlns:a="http://schemas.openxmlformats.org/drawingml/2006/main">
            <a:off x="8048625" y="6019800"/>
            <a:ext cx="3190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AFC0B8"/>
                </a:solidFill>
                <a:latin typeface="Arial"/>
                <a:ea typeface="Arial"/>
                <a:cs typeface="Arial"/>
              </a:defRPr>
            </a:pPr>
            <a:r>
              <a:rPr sz="1050" b="1">
                <a:solidFill>
                  <a:srgbClr val="AFC0B8"/>
                </a:solidFill>
                <a:latin typeface="Arial"/>
                <a:ea typeface="Arial"/>
                <a:cs typeface="Arial"/>
              </a:rPr>
              <a:t>Tartu praktiskais tests</a:t>
            </a:r>
          </a:p>
        </p:txBody>
      </p:sp>
      <p:sp>
        <p:nvSpPr>
          <p:cNvPr id="12" name="">
            <a:extLst xmlns:a="http://schemas.openxmlformats.org/drawingml/2006/main">
              <a:ext uri="{FF2B5EF4-FFF2-40B4-BE49-F238E27FC236}">
                <a16:creationId xmlns:a16="http://schemas.microsoft.com/office/drawing/2014/main" id="{C1D821F7-34CA-45F2-8DCC-73BA86288E92}"/>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2CE39B6-F5BF-4896-8458-4F23D56FE3D2}"/>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14" name="">
            <a:extLst xmlns:a="http://schemas.openxmlformats.org/drawingml/2006/main">
              <a:ext uri="{FF2B5EF4-FFF2-40B4-BE49-F238E27FC236}">
                <a16:creationId xmlns:a16="http://schemas.microsoft.com/office/drawing/2014/main" id="{79EDF953-7329-427A-B37E-1CAAAD734D62}"/>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07</a:t>
            </a:r>
          </a:p>
        </p:txBody>
      </p:sp>
    </p:spTree>
    <p:extLst>
      <p:ext uri="{BB962C8B-B14F-4D97-AF65-F5344CB8AC3E}">
        <p14:creationId xmlns:p14="http://schemas.microsoft.com/office/powerpoint/2010/main" val="846908761"/>
      </p:ext>
    </p:extLst>
  </p:cSld>
</p:sld>
</file>

<file path=ppt/slides/slide8.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E240900E-531C-4F2D-9F6B-6B9AB0A6433C}"/>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07 · TESTĒŠANA</a:t>
            </a:r>
          </a:p>
        </p:txBody>
      </p:sp>
      <p:sp>
        <p:nvSpPr>
          <p:cNvPr id="2" name="">
            <a:extLst xmlns:a="http://schemas.openxmlformats.org/drawingml/2006/main">
              <a:ext uri="{FF2B5EF4-FFF2-40B4-BE49-F238E27FC236}">
                <a16:creationId xmlns:a16="http://schemas.microsoft.com/office/drawing/2014/main" id="{197E4249-237B-4FB4-A9E9-546AF1AC1AC2}"/>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Automatizēti testi + īstas mobilās ierīces</a:t>
            </a:r>
          </a:p>
        </p:txBody>
      </p:sp>
      <p:sp>
        <p:nvSpPr>
          <p:cNvPr id="3" name="">
            <a:extLst xmlns:a="http://schemas.openxmlformats.org/drawingml/2006/main">
              <a:ext uri="{FF2B5EF4-FFF2-40B4-BE49-F238E27FC236}">
                <a16:creationId xmlns:a16="http://schemas.microsoft.com/office/drawing/2014/main" id="{D6CA934C-583F-435D-82F3-7878827958E0}"/>
              </a:ext>
            </a:extLst>
          </p:cNvPr>
          <p:cNvSpPr>
            <a:spLocks xmlns:a="http://schemas.openxmlformats.org/drawingml/2006/main" noGrp="1"/>
          </p:cNvSpPr>
          <p:nvPr/>
        </p:nvSpPr>
        <p:spPr>
          <a:xfrm xmlns:a="http://schemas.openxmlformats.org/drawingml/2006/main">
            <a:off x="609600" y="13049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FC0B8"/>
                </a:solidFill>
                <a:latin typeface="Arial"/>
                <a:ea typeface="Arial"/>
                <a:cs typeface="Arial"/>
              </a:defRPr>
            </a:pPr>
            <a:r>
              <a:rPr sz="1425" b="0">
                <a:solidFill>
                  <a:srgbClr val="AFC0B8"/>
                </a:solidFill>
                <a:latin typeface="Arial"/>
                <a:ea typeface="Arial"/>
                <a:cs typeface="Arial"/>
              </a:rPr>
              <a:t>Katrs pierādījumu veids pārbauda citu riska slāni.</a:t>
            </a:r>
          </a:p>
        </p:txBody>
      </p:sp>
      <p:sp>
        <p:nvSpPr>
          <p:cNvPr id="4" name="">
            <a:extLst xmlns:a="http://schemas.openxmlformats.org/drawingml/2006/main">
              <a:ext uri="{FF2B5EF4-FFF2-40B4-BE49-F238E27FC236}">
                <a16:creationId xmlns:a16="http://schemas.microsoft.com/office/drawing/2014/main" id="{BA4DADD3-3DAE-4934-BA26-61F2E5B2D598}"/>
              </a:ext>
            </a:extLst>
          </p:cNvPr>
          <p:cNvSpPr>
            <a:spLocks xmlns:a="http://schemas.openxmlformats.org/drawingml/2006/main" noGrp="1"/>
          </p:cNvSpPr>
          <p:nvPr/>
        </p:nvSpPr>
        <p:spPr>
          <a:xfrm xmlns:a="http://schemas.openxmlformats.org/drawingml/2006/main">
            <a:off x="609600" y="2076450"/>
            <a:ext cx="2514600" cy="3333750"/>
          </a:xfrm>
          <a:prstGeom xmlns:a="http://schemas.openxmlformats.org/drawingml/2006/main" prst="roundRect">
            <a:avLst>
              <a:gd name="adj" fmla="val 3788"/>
            </a:avLst>
          </a:prstGeom>
          <a:solidFill xmlns:a="http://schemas.openxmlformats.org/drawingml/2006/main">
            <a:srgbClr val="121A18"/>
          </a:solidFill>
          <a:ln xmlns:a="http://schemas.openxmlformats.org/drawingml/2006/main" w="9525">
            <a:solidFill>
              <a:srgbClr val="2A3A34"/>
            </a:solidFill>
          </a:ln>
        </p:spPr>
      </p:sp>
      <p:sp>
        <p:nvSpPr>
          <p:cNvPr id="5" name="">
            <a:extLst xmlns:a="http://schemas.openxmlformats.org/drawingml/2006/main">
              <a:ext uri="{FF2B5EF4-FFF2-40B4-BE49-F238E27FC236}">
                <a16:creationId xmlns:a16="http://schemas.microsoft.com/office/drawing/2014/main" id="{52E16CC1-BCE0-44D7-AA91-54C9A4590A86}"/>
              </a:ext>
            </a:extLst>
          </p:cNvPr>
          <p:cNvSpPr>
            <a:spLocks xmlns:a="http://schemas.openxmlformats.org/drawingml/2006/main" noGrp="1"/>
          </p:cNvSpPr>
          <p:nvPr/>
        </p:nvSpPr>
        <p:spPr>
          <a:xfrm xmlns:a="http://schemas.openxmlformats.org/drawingml/2006/main">
            <a:off x="609600" y="2076450"/>
            <a:ext cx="25146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350E69-3C28-483B-8E64-FCA9A55666DD}"/>
              </a:ext>
            </a:extLst>
          </p:cNvPr>
          <p:cNvSpPr>
            <a:spLocks xmlns:a="http://schemas.openxmlformats.org/drawingml/2006/main" noGrp="1"/>
          </p:cNvSpPr>
          <p:nvPr/>
        </p:nvSpPr>
        <p:spPr>
          <a:xfrm xmlns:a="http://schemas.openxmlformats.org/drawingml/2006/main">
            <a:off x="838200" y="23622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7FBF8"/>
                </a:solidFill>
                <a:latin typeface="Arial"/>
                <a:ea typeface="Arial"/>
                <a:cs typeface="Arial"/>
              </a:defRPr>
            </a:pPr>
            <a:r>
              <a:rPr sz="1800" b="1">
                <a:solidFill>
                  <a:srgbClr val="F7FBF8"/>
                </a:solidFill>
                <a:latin typeface="Arial"/>
                <a:ea typeface="Arial"/>
                <a:cs typeface="Arial"/>
              </a:rPr>
              <a:t>Kods</a:t>
            </a:r>
          </a:p>
        </p:txBody>
      </p:sp>
      <p:sp>
        <p:nvSpPr>
          <p:cNvPr id="7" name="">
            <a:extLst xmlns:a="http://schemas.openxmlformats.org/drawingml/2006/main">
              <a:ext uri="{FF2B5EF4-FFF2-40B4-BE49-F238E27FC236}">
                <a16:creationId xmlns:a16="http://schemas.microsoft.com/office/drawing/2014/main" id="{8FAF5372-C67E-4B49-8979-4084209E79A8}"/>
              </a:ext>
            </a:extLst>
          </p:cNvPr>
          <p:cNvSpPr>
            <a:spLocks xmlns:a="http://schemas.openxmlformats.org/drawingml/2006/main" noGrp="1"/>
          </p:cNvSpPr>
          <p:nvPr/>
        </p:nvSpPr>
        <p:spPr>
          <a:xfrm xmlns:a="http://schemas.openxmlformats.org/drawingml/2006/main">
            <a:off x="838200" y="3009900"/>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593D79-11AC-4034-8B69-386B5379B458}"/>
              </a:ext>
            </a:extLst>
          </p:cNvPr>
          <p:cNvSpPr>
            <a:spLocks xmlns:a="http://schemas.openxmlformats.org/drawingml/2006/main" noGrp="1"/>
          </p:cNvSpPr>
          <p:nvPr/>
        </p:nvSpPr>
        <p:spPr>
          <a:xfrm xmlns:a="http://schemas.openxmlformats.org/drawingml/2006/main">
            <a:off x="1028700" y="293370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Node sintakse</a:t>
            </a:r>
          </a:p>
        </p:txBody>
      </p:sp>
      <p:sp>
        <p:nvSpPr>
          <p:cNvPr id="9" name="">
            <a:extLst xmlns:a="http://schemas.openxmlformats.org/drawingml/2006/main">
              <a:ext uri="{FF2B5EF4-FFF2-40B4-BE49-F238E27FC236}">
                <a16:creationId xmlns:a16="http://schemas.microsoft.com/office/drawing/2014/main" id="{FE8E3336-AA6C-4741-B1C8-30C63032E947}"/>
              </a:ext>
            </a:extLst>
          </p:cNvPr>
          <p:cNvSpPr>
            <a:spLocks xmlns:a="http://schemas.openxmlformats.org/drawingml/2006/main" noGrp="1"/>
          </p:cNvSpPr>
          <p:nvPr/>
        </p:nvSpPr>
        <p:spPr>
          <a:xfrm xmlns:a="http://schemas.openxmlformats.org/drawingml/2006/main">
            <a:off x="838200" y="3533775"/>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3912CBF-17DD-474C-80C0-49059E667370}"/>
              </a:ext>
            </a:extLst>
          </p:cNvPr>
          <p:cNvSpPr>
            <a:spLocks xmlns:a="http://schemas.openxmlformats.org/drawingml/2006/main" noGrp="1"/>
          </p:cNvSpPr>
          <p:nvPr/>
        </p:nvSpPr>
        <p:spPr>
          <a:xfrm xmlns:a="http://schemas.openxmlformats.org/drawingml/2006/main">
            <a:off x="1028700" y="345757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Auth sesija</a:t>
            </a:r>
          </a:p>
        </p:txBody>
      </p:sp>
      <p:sp>
        <p:nvSpPr>
          <p:cNvPr id="11" name="">
            <a:extLst xmlns:a="http://schemas.openxmlformats.org/drawingml/2006/main">
              <a:ext uri="{FF2B5EF4-FFF2-40B4-BE49-F238E27FC236}">
                <a16:creationId xmlns:a16="http://schemas.microsoft.com/office/drawing/2014/main" id="{3DB35E68-0BE1-44C3-A3FE-FB568CE03A9F}"/>
              </a:ext>
            </a:extLst>
          </p:cNvPr>
          <p:cNvSpPr>
            <a:spLocks xmlns:a="http://schemas.openxmlformats.org/drawingml/2006/main" noGrp="1"/>
          </p:cNvSpPr>
          <p:nvPr/>
        </p:nvSpPr>
        <p:spPr>
          <a:xfrm xmlns:a="http://schemas.openxmlformats.org/drawingml/2006/main">
            <a:off x="838200" y="4057650"/>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0A28213-CA57-4CB0-A022-72EB9E2CBB13}"/>
              </a:ext>
            </a:extLst>
          </p:cNvPr>
          <p:cNvSpPr>
            <a:spLocks xmlns:a="http://schemas.openxmlformats.org/drawingml/2006/main" noGrp="1"/>
          </p:cNvSpPr>
          <p:nvPr/>
        </p:nvSpPr>
        <p:spPr>
          <a:xfrm xmlns:a="http://schemas.openxmlformats.org/drawingml/2006/main">
            <a:off x="1028700" y="39814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Retry un ZIP</a:t>
            </a:r>
          </a:p>
        </p:txBody>
      </p:sp>
      <p:sp>
        <p:nvSpPr>
          <p:cNvPr id="13" name="">
            <a:extLst xmlns:a="http://schemas.openxmlformats.org/drawingml/2006/main">
              <a:ext uri="{FF2B5EF4-FFF2-40B4-BE49-F238E27FC236}">
                <a16:creationId xmlns:a16="http://schemas.microsoft.com/office/drawing/2014/main" id="{61460728-9A44-4DAA-8920-47AD8D845047}"/>
              </a:ext>
            </a:extLst>
          </p:cNvPr>
          <p:cNvSpPr>
            <a:spLocks xmlns:a="http://schemas.openxmlformats.org/drawingml/2006/main" noGrp="1"/>
          </p:cNvSpPr>
          <p:nvPr/>
        </p:nvSpPr>
        <p:spPr>
          <a:xfrm xmlns:a="http://schemas.openxmlformats.org/drawingml/2006/main">
            <a:off x="838200" y="4581525"/>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AA0FC68-99C9-4A98-8C03-A18EAE4C76B1}"/>
              </a:ext>
            </a:extLst>
          </p:cNvPr>
          <p:cNvSpPr>
            <a:spLocks xmlns:a="http://schemas.openxmlformats.org/drawingml/2006/main" noGrp="1"/>
          </p:cNvSpPr>
          <p:nvPr/>
        </p:nvSpPr>
        <p:spPr>
          <a:xfrm xmlns:a="http://schemas.openxmlformats.org/drawingml/2006/main">
            <a:off x="1028700" y="45053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Build allowlist</a:t>
            </a:r>
          </a:p>
        </p:txBody>
      </p:sp>
      <p:sp>
        <p:nvSpPr>
          <p:cNvPr id="15" name="">
            <a:extLst xmlns:a="http://schemas.openxmlformats.org/drawingml/2006/main">
              <a:ext uri="{FF2B5EF4-FFF2-40B4-BE49-F238E27FC236}">
                <a16:creationId xmlns:a16="http://schemas.microsoft.com/office/drawing/2014/main" id="{E6857517-263B-44C8-9E0B-A1EF713D8E0C}"/>
              </a:ext>
            </a:extLst>
          </p:cNvPr>
          <p:cNvSpPr>
            <a:spLocks xmlns:a="http://schemas.openxmlformats.org/drawingml/2006/main" noGrp="1"/>
          </p:cNvSpPr>
          <p:nvPr/>
        </p:nvSpPr>
        <p:spPr>
          <a:xfrm xmlns:a="http://schemas.openxmlformats.org/drawingml/2006/main">
            <a:off x="3429000" y="2076450"/>
            <a:ext cx="2514600" cy="3333750"/>
          </a:xfrm>
          <a:prstGeom xmlns:a="http://schemas.openxmlformats.org/drawingml/2006/main" prst="roundRect">
            <a:avLst>
              <a:gd name="adj" fmla="val 3788"/>
            </a:avLst>
          </a:prstGeom>
          <a:solidFill xmlns:a="http://schemas.openxmlformats.org/drawingml/2006/main">
            <a:srgbClr val="121A18"/>
          </a:solidFill>
          <a:ln xmlns:a="http://schemas.openxmlformats.org/drawingml/2006/main" w="9525">
            <a:solidFill>
              <a:srgbClr val="2A3A34"/>
            </a:solidFill>
          </a:ln>
        </p:spPr>
      </p:sp>
      <p:sp>
        <p:nvSpPr>
          <p:cNvPr id="16" name="">
            <a:extLst xmlns:a="http://schemas.openxmlformats.org/drawingml/2006/main">
              <a:ext uri="{FF2B5EF4-FFF2-40B4-BE49-F238E27FC236}">
                <a16:creationId xmlns:a16="http://schemas.microsoft.com/office/drawing/2014/main" id="{2468E53E-3BB6-4999-9436-BB0F716E76C1}"/>
              </a:ext>
            </a:extLst>
          </p:cNvPr>
          <p:cNvSpPr>
            <a:spLocks xmlns:a="http://schemas.openxmlformats.org/drawingml/2006/main" noGrp="1"/>
          </p:cNvSpPr>
          <p:nvPr/>
        </p:nvSpPr>
        <p:spPr>
          <a:xfrm xmlns:a="http://schemas.openxmlformats.org/drawingml/2006/main">
            <a:off x="3429000" y="2076450"/>
            <a:ext cx="2514600" cy="7620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5E2B6CA-0771-49F2-A44A-527ECB1DB5E0}"/>
              </a:ext>
            </a:extLst>
          </p:cNvPr>
          <p:cNvSpPr>
            <a:spLocks xmlns:a="http://schemas.openxmlformats.org/drawingml/2006/main" noGrp="1"/>
          </p:cNvSpPr>
          <p:nvPr/>
        </p:nvSpPr>
        <p:spPr>
          <a:xfrm xmlns:a="http://schemas.openxmlformats.org/drawingml/2006/main">
            <a:off x="3657600" y="23622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7FBF8"/>
                </a:solidFill>
                <a:latin typeface="Arial"/>
                <a:ea typeface="Arial"/>
                <a:cs typeface="Arial"/>
              </a:defRPr>
            </a:pPr>
            <a:r>
              <a:rPr sz="1800" b="1">
                <a:solidFill>
                  <a:srgbClr val="F7FBF8"/>
                </a:solidFill>
                <a:latin typeface="Arial"/>
                <a:ea typeface="Arial"/>
                <a:cs typeface="Arial"/>
              </a:rPr>
              <a:t>Datubāze</a:t>
            </a:r>
          </a:p>
        </p:txBody>
      </p:sp>
      <p:sp>
        <p:nvSpPr>
          <p:cNvPr id="18" name="">
            <a:extLst xmlns:a="http://schemas.openxmlformats.org/drawingml/2006/main">
              <a:ext uri="{FF2B5EF4-FFF2-40B4-BE49-F238E27FC236}">
                <a16:creationId xmlns:a16="http://schemas.microsoft.com/office/drawing/2014/main" id="{7EF1D810-F687-43E9-BE68-89D652F9E724}"/>
              </a:ext>
            </a:extLst>
          </p:cNvPr>
          <p:cNvSpPr>
            <a:spLocks xmlns:a="http://schemas.openxmlformats.org/drawingml/2006/main" noGrp="1"/>
          </p:cNvSpPr>
          <p:nvPr/>
        </p:nvSpPr>
        <p:spPr>
          <a:xfrm xmlns:a="http://schemas.openxmlformats.org/drawingml/2006/main">
            <a:off x="3657600" y="3009900"/>
            <a:ext cx="76200" cy="7620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E8F0EAB-3809-4C9D-9EBE-42366D4CB4C4}"/>
              </a:ext>
            </a:extLst>
          </p:cNvPr>
          <p:cNvSpPr>
            <a:spLocks xmlns:a="http://schemas.openxmlformats.org/drawingml/2006/main" noGrp="1"/>
          </p:cNvSpPr>
          <p:nvPr/>
        </p:nvSpPr>
        <p:spPr>
          <a:xfrm xmlns:a="http://schemas.openxmlformats.org/drawingml/2006/main">
            <a:off x="3848100" y="293370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PGlite SQL</a:t>
            </a:r>
          </a:p>
        </p:txBody>
      </p:sp>
      <p:sp>
        <p:nvSpPr>
          <p:cNvPr id="20" name="">
            <a:extLst xmlns:a="http://schemas.openxmlformats.org/drawingml/2006/main">
              <a:ext uri="{FF2B5EF4-FFF2-40B4-BE49-F238E27FC236}">
                <a16:creationId xmlns:a16="http://schemas.microsoft.com/office/drawing/2014/main" id="{16DF7584-A5FF-48EE-A8BA-69A1465EC0DF}"/>
              </a:ext>
            </a:extLst>
          </p:cNvPr>
          <p:cNvSpPr>
            <a:spLocks xmlns:a="http://schemas.openxmlformats.org/drawingml/2006/main" noGrp="1"/>
          </p:cNvSpPr>
          <p:nvPr/>
        </p:nvSpPr>
        <p:spPr>
          <a:xfrm xmlns:a="http://schemas.openxmlformats.org/drawingml/2006/main">
            <a:off x="3657600" y="3533775"/>
            <a:ext cx="76200" cy="7620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4C1639B-EA88-427C-8FEA-928D854B251A}"/>
              </a:ext>
            </a:extLst>
          </p:cNvPr>
          <p:cNvSpPr>
            <a:spLocks xmlns:a="http://schemas.openxmlformats.org/drawingml/2006/main" noGrp="1"/>
          </p:cNvSpPr>
          <p:nvPr/>
        </p:nvSpPr>
        <p:spPr>
          <a:xfrm xmlns:a="http://schemas.openxmlformats.org/drawingml/2006/main">
            <a:off x="3848100" y="345757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RLS un ownership</a:t>
            </a:r>
          </a:p>
        </p:txBody>
      </p:sp>
      <p:sp>
        <p:nvSpPr>
          <p:cNvPr id="22" name="">
            <a:extLst xmlns:a="http://schemas.openxmlformats.org/drawingml/2006/main">
              <a:ext uri="{FF2B5EF4-FFF2-40B4-BE49-F238E27FC236}">
                <a16:creationId xmlns:a16="http://schemas.microsoft.com/office/drawing/2014/main" id="{D5743BDF-7097-47F6-9E8C-C462A3D29C6D}"/>
              </a:ext>
            </a:extLst>
          </p:cNvPr>
          <p:cNvSpPr>
            <a:spLocks xmlns:a="http://schemas.openxmlformats.org/drawingml/2006/main" noGrp="1"/>
          </p:cNvSpPr>
          <p:nvPr/>
        </p:nvSpPr>
        <p:spPr>
          <a:xfrm xmlns:a="http://schemas.openxmlformats.org/drawingml/2006/main">
            <a:off x="3657600" y="4057650"/>
            <a:ext cx="76200" cy="7620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112BB99-FF4B-4CF4-A0CA-154B0840FB8D}"/>
              </a:ext>
            </a:extLst>
          </p:cNvPr>
          <p:cNvSpPr>
            <a:spLocks xmlns:a="http://schemas.openxmlformats.org/drawingml/2006/main" noGrp="1"/>
          </p:cNvSpPr>
          <p:nvPr/>
        </p:nvSpPr>
        <p:spPr>
          <a:xfrm xmlns:a="http://schemas.openxmlformats.org/drawingml/2006/main">
            <a:off x="3848100" y="39814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Laika robežas</a:t>
            </a:r>
          </a:p>
        </p:txBody>
      </p:sp>
      <p:sp>
        <p:nvSpPr>
          <p:cNvPr id="24" name="">
            <a:extLst xmlns:a="http://schemas.openxmlformats.org/drawingml/2006/main">
              <a:ext uri="{FF2B5EF4-FFF2-40B4-BE49-F238E27FC236}">
                <a16:creationId xmlns:a16="http://schemas.microsoft.com/office/drawing/2014/main" id="{A8E705B5-9C6C-48F4-AF03-7E2798C6F7B9}"/>
              </a:ext>
            </a:extLst>
          </p:cNvPr>
          <p:cNvSpPr>
            <a:spLocks xmlns:a="http://schemas.openxmlformats.org/drawingml/2006/main" noGrp="1"/>
          </p:cNvSpPr>
          <p:nvPr/>
        </p:nvSpPr>
        <p:spPr>
          <a:xfrm xmlns:a="http://schemas.openxmlformats.org/drawingml/2006/main">
            <a:off x="3657600" y="4581525"/>
            <a:ext cx="76200" cy="7620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798E750-1BD4-48A9-849B-3FF1EDDF6484}"/>
              </a:ext>
            </a:extLst>
          </p:cNvPr>
          <p:cNvSpPr>
            <a:spLocks xmlns:a="http://schemas.openxmlformats.org/drawingml/2006/main" noGrp="1"/>
          </p:cNvSpPr>
          <p:nvPr/>
        </p:nvSpPr>
        <p:spPr>
          <a:xfrm xmlns:a="http://schemas.openxmlformats.org/drawingml/2006/main">
            <a:off x="3848100" y="45053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RPC atļaujas</a:t>
            </a:r>
          </a:p>
        </p:txBody>
      </p:sp>
      <p:sp>
        <p:nvSpPr>
          <p:cNvPr id="26" name="">
            <a:extLst xmlns:a="http://schemas.openxmlformats.org/drawingml/2006/main">
              <a:ext uri="{FF2B5EF4-FFF2-40B4-BE49-F238E27FC236}">
                <a16:creationId xmlns:a16="http://schemas.microsoft.com/office/drawing/2014/main" id="{821FE605-4922-40C5-91C1-0E38B500369B}"/>
              </a:ext>
            </a:extLst>
          </p:cNvPr>
          <p:cNvSpPr>
            <a:spLocks xmlns:a="http://schemas.openxmlformats.org/drawingml/2006/main" noGrp="1"/>
          </p:cNvSpPr>
          <p:nvPr/>
        </p:nvSpPr>
        <p:spPr>
          <a:xfrm xmlns:a="http://schemas.openxmlformats.org/drawingml/2006/main">
            <a:off x="6248400" y="2076450"/>
            <a:ext cx="2514600" cy="3333750"/>
          </a:xfrm>
          <a:prstGeom xmlns:a="http://schemas.openxmlformats.org/drawingml/2006/main" prst="roundRect">
            <a:avLst>
              <a:gd name="adj" fmla="val 3788"/>
            </a:avLst>
          </a:prstGeom>
          <a:solidFill xmlns:a="http://schemas.openxmlformats.org/drawingml/2006/main">
            <a:srgbClr val="121A18"/>
          </a:solidFill>
          <a:ln xmlns:a="http://schemas.openxmlformats.org/drawingml/2006/main" w="9525">
            <a:solidFill>
              <a:srgbClr val="2A3A34"/>
            </a:solidFill>
          </a:ln>
        </p:spPr>
      </p:sp>
      <p:sp>
        <p:nvSpPr>
          <p:cNvPr id="27" name="">
            <a:extLst xmlns:a="http://schemas.openxmlformats.org/drawingml/2006/main">
              <a:ext uri="{FF2B5EF4-FFF2-40B4-BE49-F238E27FC236}">
                <a16:creationId xmlns:a16="http://schemas.microsoft.com/office/drawing/2014/main" id="{C4AEB574-C4B7-4BFE-B16F-03155EA4A5C2}"/>
              </a:ext>
            </a:extLst>
          </p:cNvPr>
          <p:cNvSpPr>
            <a:spLocks xmlns:a="http://schemas.openxmlformats.org/drawingml/2006/main" noGrp="1"/>
          </p:cNvSpPr>
          <p:nvPr/>
        </p:nvSpPr>
        <p:spPr>
          <a:xfrm xmlns:a="http://schemas.openxmlformats.org/drawingml/2006/main">
            <a:off x="6248400" y="2076450"/>
            <a:ext cx="2514600" cy="76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CA92F88-49BF-4DB6-B209-7FECA0837637}"/>
              </a:ext>
            </a:extLst>
          </p:cNvPr>
          <p:cNvSpPr>
            <a:spLocks xmlns:a="http://schemas.openxmlformats.org/drawingml/2006/main" noGrp="1"/>
          </p:cNvSpPr>
          <p:nvPr/>
        </p:nvSpPr>
        <p:spPr>
          <a:xfrm xmlns:a="http://schemas.openxmlformats.org/drawingml/2006/main">
            <a:off x="6477000" y="23622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7FBF8"/>
                </a:solidFill>
                <a:latin typeface="Arial"/>
                <a:ea typeface="Arial"/>
                <a:cs typeface="Arial"/>
              </a:defRPr>
            </a:pPr>
            <a:r>
              <a:rPr sz="1800" b="1">
                <a:solidFill>
                  <a:srgbClr val="F7FBF8"/>
                </a:solidFill>
                <a:latin typeface="Arial"/>
                <a:ea typeface="Arial"/>
                <a:cs typeface="Arial"/>
              </a:rPr>
              <a:t>Pārlūks</a:t>
            </a:r>
          </a:p>
        </p:txBody>
      </p:sp>
      <p:sp>
        <p:nvSpPr>
          <p:cNvPr id="29" name="">
            <a:extLst xmlns:a="http://schemas.openxmlformats.org/drawingml/2006/main">
              <a:ext uri="{FF2B5EF4-FFF2-40B4-BE49-F238E27FC236}">
                <a16:creationId xmlns:a16="http://schemas.microsoft.com/office/drawing/2014/main" id="{3E20DCB8-317C-4B25-BEB1-AF19E702FF5F}"/>
              </a:ext>
            </a:extLst>
          </p:cNvPr>
          <p:cNvSpPr>
            <a:spLocks xmlns:a="http://schemas.openxmlformats.org/drawingml/2006/main" noGrp="1"/>
          </p:cNvSpPr>
          <p:nvPr/>
        </p:nvSpPr>
        <p:spPr>
          <a:xfrm xmlns:a="http://schemas.openxmlformats.org/drawingml/2006/main">
            <a:off x="6477000" y="3009900"/>
            <a:ext cx="76200" cy="76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5AAAB72-8380-42E1-9AE0-0857132C1D14}"/>
              </a:ext>
            </a:extLst>
          </p:cNvPr>
          <p:cNvSpPr>
            <a:spLocks xmlns:a="http://schemas.openxmlformats.org/drawingml/2006/main" noGrp="1"/>
          </p:cNvSpPr>
          <p:nvPr/>
        </p:nvSpPr>
        <p:spPr>
          <a:xfrm xmlns:a="http://schemas.openxmlformats.org/drawingml/2006/main">
            <a:off x="6667500" y="293370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Playwright</a:t>
            </a:r>
          </a:p>
        </p:txBody>
      </p:sp>
      <p:sp>
        <p:nvSpPr>
          <p:cNvPr id="31" name="">
            <a:extLst xmlns:a="http://schemas.openxmlformats.org/drawingml/2006/main">
              <a:ext uri="{FF2B5EF4-FFF2-40B4-BE49-F238E27FC236}">
                <a16:creationId xmlns:a16="http://schemas.microsoft.com/office/drawing/2014/main" id="{29A818C0-19D1-4770-AA85-B90729176A0A}"/>
              </a:ext>
            </a:extLst>
          </p:cNvPr>
          <p:cNvSpPr>
            <a:spLocks xmlns:a="http://schemas.openxmlformats.org/drawingml/2006/main" noGrp="1"/>
          </p:cNvSpPr>
          <p:nvPr/>
        </p:nvSpPr>
        <p:spPr>
          <a:xfrm xmlns:a="http://schemas.openxmlformats.org/drawingml/2006/main">
            <a:off x="6477000" y="3533775"/>
            <a:ext cx="76200" cy="76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0B39717-472D-4E2C-B73B-009DF54D7C07}"/>
              </a:ext>
            </a:extLst>
          </p:cNvPr>
          <p:cNvSpPr>
            <a:spLocks xmlns:a="http://schemas.openxmlformats.org/drawingml/2006/main" noGrp="1"/>
          </p:cNvSpPr>
          <p:nvPr/>
        </p:nvSpPr>
        <p:spPr>
          <a:xfrm xmlns:a="http://schemas.openxmlformats.org/drawingml/2006/main">
            <a:off x="6667500" y="345757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320–1280 px</a:t>
            </a:r>
          </a:p>
        </p:txBody>
      </p:sp>
      <p:sp>
        <p:nvSpPr>
          <p:cNvPr id="33" name="">
            <a:extLst xmlns:a="http://schemas.openxmlformats.org/drawingml/2006/main">
              <a:ext uri="{FF2B5EF4-FFF2-40B4-BE49-F238E27FC236}">
                <a16:creationId xmlns:a16="http://schemas.microsoft.com/office/drawing/2014/main" id="{3B4A9241-33B7-4677-901A-6BB50612F3D1}"/>
              </a:ext>
            </a:extLst>
          </p:cNvPr>
          <p:cNvSpPr>
            <a:spLocks xmlns:a="http://schemas.openxmlformats.org/drawingml/2006/main" noGrp="1"/>
          </p:cNvSpPr>
          <p:nvPr/>
        </p:nvSpPr>
        <p:spPr>
          <a:xfrm xmlns:a="http://schemas.openxmlformats.org/drawingml/2006/main">
            <a:off x="6477000" y="4057650"/>
            <a:ext cx="76200" cy="76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5FC63AE-25EF-44EC-89F7-400E615E5E77}"/>
              </a:ext>
            </a:extLst>
          </p:cNvPr>
          <p:cNvSpPr>
            <a:spLocks xmlns:a="http://schemas.openxmlformats.org/drawingml/2006/main" noGrp="1"/>
          </p:cNvSpPr>
          <p:nvPr/>
        </p:nvSpPr>
        <p:spPr>
          <a:xfrm xmlns:a="http://schemas.openxmlformats.org/drawingml/2006/main">
            <a:off x="6667500" y="39814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Galerija un modāļi</a:t>
            </a:r>
          </a:p>
        </p:txBody>
      </p:sp>
      <p:sp>
        <p:nvSpPr>
          <p:cNvPr id="35" name="">
            <a:extLst xmlns:a="http://schemas.openxmlformats.org/drawingml/2006/main">
              <a:ext uri="{FF2B5EF4-FFF2-40B4-BE49-F238E27FC236}">
                <a16:creationId xmlns:a16="http://schemas.microsoft.com/office/drawing/2014/main" id="{F2C7A6A4-4038-463A-A567-42AF7338C425}"/>
              </a:ext>
            </a:extLst>
          </p:cNvPr>
          <p:cNvSpPr>
            <a:spLocks xmlns:a="http://schemas.openxmlformats.org/drawingml/2006/main" noGrp="1"/>
          </p:cNvSpPr>
          <p:nvPr/>
        </p:nvSpPr>
        <p:spPr>
          <a:xfrm xmlns:a="http://schemas.openxmlformats.org/drawingml/2006/main">
            <a:off x="6477000" y="4581525"/>
            <a:ext cx="76200" cy="76200"/>
          </a:xfrm>
          <a:prstGeom xmlns:a="http://schemas.openxmlformats.org/drawingml/2006/main" prst="roundRect">
            <a:avLst>
              <a:gd name="adj" fmla="val 50000"/>
            </a:avLst>
          </a:prstGeom>
          <a:solidFill xmlns:a="http://schemas.openxmlformats.org/drawingml/2006/main">
            <a:srgbClr val="F4C95D"/>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38A28F5-C285-4F0B-9A49-9ED41BFBEA7F}"/>
              </a:ext>
            </a:extLst>
          </p:cNvPr>
          <p:cNvSpPr>
            <a:spLocks xmlns:a="http://schemas.openxmlformats.org/drawingml/2006/main" noGrp="1"/>
          </p:cNvSpPr>
          <p:nvPr/>
        </p:nvSpPr>
        <p:spPr>
          <a:xfrm xmlns:a="http://schemas.openxmlformats.org/drawingml/2006/main">
            <a:off x="6667500" y="45053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WebP encode</a:t>
            </a:r>
          </a:p>
        </p:txBody>
      </p:sp>
      <p:sp>
        <p:nvSpPr>
          <p:cNvPr id="37" name="">
            <a:extLst xmlns:a="http://schemas.openxmlformats.org/drawingml/2006/main">
              <a:ext uri="{FF2B5EF4-FFF2-40B4-BE49-F238E27FC236}">
                <a16:creationId xmlns:a16="http://schemas.microsoft.com/office/drawing/2014/main" id="{552A9036-3C2D-4526-90B1-C300F74CE78D}"/>
              </a:ext>
            </a:extLst>
          </p:cNvPr>
          <p:cNvSpPr>
            <a:spLocks xmlns:a="http://schemas.openxmlformats.org/drawingml/2006/main" noGrp="1"/>
          </p:cNvSpPr>
          <p:nvPr/>
        </p:nvSpPr>
        <p:spPr>
          <a:xfrm xmlns:a="http://schemas.openxmlformats.org/drawingml/2006/main">
            <a:off x="9067800" y="2076450"/>
            <a:ext cx="2514600" cy="3333750"/>
          </a:xfrm>
          <a:prstGeom xmlns:a="http://schemas.openxmlformats.org/drawingml/2006/main" prst="roundRect">
            <a:avLst>
              <a:gd name="adj" fmla="val 3788"/>
            </a:avLst>
          </a:prstGeom>
          <a:solidFill xmlns:a="http://schemas.openxmlformats.org/drawingml/2006/main">
            <a:srgbClr val="121A18"/>
          </a:solidFill>
          <a:ln xmlns:a="http://schemas.openxmlformats.org/drawingml/2006/main" w="9525">
            <a:solidFill>
              <a:srgbClr val="2A3A34"/>
            </a:solidFill>
          </a:ln>
        </p:spPr>
      </p:sp>
      <p:sp>
        <p:nvSpPr>
          <p:cNvPr id="38" name="">
            <a:extLst xmlns:a="http://schemas.openxmlformats.org/drawingml/2006/main">
              <a:ext uri="{FF2B5EF4-FFF2-40B4-BE49-F238E27FC236}">
                <a16:creationId xmlns:a16="http://schemas.microsoft.com/office/drawing/2014/main" id="{5B87F80C-2448-4040-AE2E-1B94CE598912}"/>
              </a:ext>
            </a:extLst>
          </p:cNvPr>
          <p:cNvSpPr>
            <a:spLocks xmlns:a="http://schemas.openxmlformats.org/drawingml/2006/main" noGrp="1"/>
          </p:cNvSpPr>
          <p:nvPr/>
        </p:nvSpPr>
        <p:spPr>
          <a:xfrm xmlns:a="http://schemas.openxmlformats.org/drawingml/2006/main">
            <a:off x="9067800" y="2076450"/>
            <a:ext cx="25146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F3EDB9D-703F-473D-8831-CDFAF94C1F09}"/>
              </a:ext>
            </a:extLst>
          </p:cNvPr>
          <p:cNvSpPr>
            <a:spLocks xmlns:a="http://schemas.openxmlformats.org/drawingml/2006/main" noGrp="1"/>
          </p:cNvSpPr>
          <p:nvPr/>
        </p:nvSpPr>
        <p:spPr>
          <a:xfrm xmlns:a="http://schemas.openxmlformats.org/drawingml/2006/main">
            <a:off x="9296400" y="23622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7FBF8"/>
                </a:solidFill>
                <a:latin typeface="Arial"/>
                <a:ea typeface="Arial"/>
                <a:cs typeface="Arial"/>
              </a:defRPr>
            </a:pPr>
            <a:r>
              <a:rPr sz="1800" b="1">
                <a:solidFill>
                  <a:srgbClr val="F7FBF8"/>
                </a:solidFill>
                <a:latin typeface="Arial"/>
                <a:ea typeface="Arial"/>
                <a:cs typeface="Arial"/>
              </a:rPr>
              <a:t>Production</a:t>
            </a:r>
          </a:p>
        </p:txBody>
      </p:sp>
      <p:sp>
        <p:nvSpPr>
          <p:cNvPr id="40" name="">
            <a:extLst xmlns:a="http://schemas.openxmlformats.org/drawingml/2006/main">
              <a:ext uri="{FF2B5EF4-FFF2-40B4-BE49-F238E27FC236}">
                <a16:creationId xmlns:a16="http://schemas.microsoft.com/office/drawing/2014/main" id="{69F63707-EFFE-4714-8B1F-2DF4E96BA7A2}"/>
              </a:ext>
            </a:extLst>
          </p:cNvPr>
          <p:cNvSpPr>
            <a:spLocks xmlns:a="http://schemas.openxmlformats.org/drawingml/2006/main" noGrp="1"/>
          </p:cNvSpPr>
          <p:nvPr/>
        </p:nvSpPr>
        <p:spPr>
          <a:xfrm xmlns:a="http://schemas.openxmlformats.org/drawingml/2006/main">
            <a:off x="9296400" y="3009900"/>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AA574DE-4DCE-480E-89E5-DE2859BE756A}"/>
              </a:ext>
            </a:extLst>
          </p:cNvPr>
          <p:cNvSpPr>
            <a:spLocks xmlns:a="http://schemas.openxmlformats.org/drawingml/2006/main" noGrp="1"/>
          </p:cNvSpPr>
          <p:nvPr/>
        </p:nvSpPr>
        <p:spPr>
          <a:xfrm xmlns:a="http://schemas.openxmlformats.org/drawingml/2006/main">
            <a:off x="9486900" y="293370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iPhone 13 Pro</a:t>
            </a:r>
          </a:p>
        </p:txBody>
      </p:sp>
      <p:sp>
        <p:nvSpPr>
          <p:cNvPr id="42" name="">
            <a:extLst xmlns:a="http://schemas.openxmlformats.org/drawingml/2006/main">
              <a:ext uri="{FF2B5EF4-FFF2-40B4-BE49-F238E27FC236}">
                <a16:creationId xmlns:a16="http://schemas.microsoft.com/office/drawing/2014/main" id="{3066B7D1-C9D0-4BBC-A30F-5C74E64ECA24}"/>
              </a:ext>
            </a:extLst>
          </p:cNvPr>
          <p:cNvSpPr>
            <a:spLocks xmlns:a="http://schemas.openxmlformats.org/drawingml/2006/main" noGrp="1"/>
          </p:cNvSpPr>
          <p:nvPr/>
        </p:nvSpPr>
        <p:spPr>
          <a:xfrm xmlns:a="http://schemas.openxmlformats.org/drawingml/2006/main">
            <a:off x="9296400" y="3533775"/>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9B7A04B-7260-4669-AA14-00F5C637D036}"/>
              </a:ext>
            </a:extLst>
          </p:cNvPr>
          <p:cNvSpPr>
            <a:spLocks xmlns:a="http://schemas.openxmlformats.org/drawingml/2006/main" noGrp="1"/>
          </p:cNvSpPr>
          <p:nvPr/>
        </p:nvSpPr>
        <p:spPr>
          <a:xfrm xmlns:a="http://schemas.openxmlformats.org/drawingml/2006/main">
            <a:off x="9486900" y="345757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Samsung S23</a:t>
            </a:r>
          </a:p>
        </p:txBody>
      </p:sp>
      <p:sp>
        <p:nvSpPr>
          <p:cNvPr id="44" name="">
            <a:extLst xmlns:a="http://schemas.openxmlformats.org/drawingml/2006/main">
              <a:ext uri="{FF2B5EF4-FFF2-40B4-BE49-F238E27FC236}">
                <a16:creationId xmlns:a16="http://schemas.microsoft.com/office/drawing/2014/main" id="{5701ECC1-F90A-46DE-857D-3C513182A0A8}"/>
              </a:ext>
            </a:extLst>
          </p:cNvPr>
          <p:cNvSpPr>
            <a:spLocks xmlns:a="http://schemas.openxmlformats.org/drawingml/2006/main" noGrp="1"/>
          </p:cNvSpPr>
          <p:nvPr/>
        </p:nvSpPr>
        <p:spPr>
          <a:xfrm xmlns:a="http://schemas.openxmlformats.org/drawingml/2006/main">
            <a:off x="9296400" y="4057650"/>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6C21A44-169F-45C7-9328-379E1889767C}"/>
              </a:ext>
            </a:extLst>
          </p:cNvPr>
          <p:cNvSpPr>
            <a:spLocks xmlns:a="http://schemas.openxmlformats.org/drawingml/2006/main" noGrp="1"/>
          </p:cNvSpPr>
          <p:nvPr/>
        </p:nvSpPr>
        <p:spPr>
          <a:xfrm xmlns:a="http://schemas.openxmlformats.org/drawingml/2006/main">
            <a:off x="9486900" y="39814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Cloudflare Worker</a:t>
            </a:r>
          </a:p>
        </p:txBody>
      </p:sp>
      <p:sp>
        <p:nvSpPr>
          <p:cNvPr id="46" name="">
            <a:extLst xmlns:a="http://schemas.openxmlformats.org/drawingml/2006/main">
              <a:ext uri="{FF2B5EF4-FFF2-40B4-BE49-F238E27FC236}">
                <a16:creationId xmlns:a16="http://schemas.microsoft.com/office/drawing/2014/main" id="{B919F497-302A-440E-962C-E95C4EFD7955}"/>
              </a:ext>
            </a:extLst>
          </p:cNvPr>
          <p:cNvSpPr>
            <a:spLocks xmlns:a="http://schemas.openxmlformats.org/drawingml/2006/main" noGrp="1"/>
          </p:cNvSpPr>
          <p:nvPr/>
        </p:nvSpPr>
        <p:spPr>
          <a:xfrm xmlns:a="http://schemas.openxmlformats.org/drawingml/2006/main">
            <a:off x="9296400" y="4581525"/>
            <a:ext cx="76200" cy="762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7FCAA4F-24F8-46BE-B6E8-9FAA09B4D7C5}"/>
              </a:ext>
            </a:extLst>
          </p:cNvPr>
          <p:cNvSpPr>
            <a:spLocks xmlns:a="http://schemas.openxmlformats.org/drawingml/2006/main" noGrp="1"/>
          </p:cNvSpPr>
          <p:nvPr/>
        </p:nvSpPr>
        <p:spPr>
          <a:xfrm xmlns:a="http://schemas.openxmlformats.org/drawingml/2006/main">
            <a:off x="9486900" y="45053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Privāts R2</a:t>
            </a:r>
          </a:p>
        </p:txBody>
      </p:sp>
      <p:sp>
        <p:nvSpPr>
          <p:cNvPr id="48" name="">
            <a:extLst xmlns:a="http://schemas.openxmlformats.org/drawingml/2006/main">
              <a:ext uri="{FF2B5EF4-FFF2-40B4-BE49-F238E27FC236}">
                <a16:creationId xmlns:a16="http://schemas.microsoft.com/office/drawing/2014/main" id="{29D3A46C-EF81-46F4-B14A-447789B9A8F4}"/>
              </a:ext>
            </a:extLst>
          </p:cNvPr>
          <p:cNvSpPr>
            <a:spLocks xmlns:a="http://schemas.openxmlformats.org/drawingml/2006/main" noGrp="1"/>
          </p:cNvSpPr>
          <p:nvPr/>
        </p:nvSpPr>
        <p:spPr>
          <a:xfrm xmlns:a="http://schemas.openxmlformats.org/drawingml/2006/main">
            <a:off x="609600" y="58102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F7FBF8"/>
                </a:solidFill>
                <a:latin typeface="Arial"/>
                <a:ea typeface="Arial"/>
                <a:cs typeface="Arial"/>
              </a:defRPr>
            </a:pPr>
            <a:r>
              <a:rPr sz="1575" b="1">
                <a:solidFill>
                  <a:srgbClr val="F7FBF8"/>
                </a:solidFill>
                <a:latin typeface="Arial"/>
                <a:ea typeface="Arial"/>
                <a:cs typeface="Arial"/>
              </a:rPr>
              <a:t>12.09.2026 · test.retake.photo · pilnā pamatplūsma izdevās abās ierīcēs</a:t>
            </a:r>
          </a:p>
        </p:txBody>
      </p:sp>
      <p:sp>
        <p:nvSpPr>
          <p:cNvPr id="49" name="">
            <a:extLst xmlns:a="http://schemas.openxmlformats.org/drawingml/2006/main">
              <a:ext uri="{FF2B5EF4-FFF2-40B4-BE49-F238E27FC236}">
                <a16:creationId xmlns:a16="http://schemas.microsoft.com/office/drawing/2014/main" id="{02B644CB-484A-4669-8E97-12C6696259F8}"/>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A0ED8668-4F5B-4245-821C-A6563E3898D0}"/>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51" name="">
            <a:extLst xmlns:a="http://schemas.openxmlformats.org/drawingml/2006/main">
              <a:ext uri="{FF2B5EF4-FFF2-40B4-BE49-F238E27FC236}">
                <a16:creationId xmlns:a16="http://schemas.microsoft.com/office/drawing/2014/main" id="{C43AB628-962F-4CF2-B0F9-A91E4E21959F}"/>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08</a:t>
            </a:r>
          </a:p>
        </p:txBody>
      </p:sp>
    </p:spTree>
    <p:extLst>
      <p:ext uri="{BB962C8B-B14F-4D97-AF65-F5344CB8AC3E}">
        <p14:creationId xmlns:p14="http://schemas.microsoft.com/office/powerpoint/2010/main" val="1980248411"/>
      </p:ext>
    </p:extLst>
  </p:cSld>
</p:sld>
</file>

<file path=ppt/slides/slide9.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5844C94-D868-474A-88FE-5DD8D3AF8EE1}"/>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08 · BŪTISKĀKIE LABOJUMI</a:t>
            </a:r>
          </a:p>
        </p:txBody>
      </p:sp>
      <p:sp>
        <p:nvSpPr>
          <p:cNvPr id="2" name="">
            <a:extLst xmlns:a="http://schemas.openxmlformats.org/drawingml/2006/main">
              <a:ext uri="{FF2B5EF4-FFF2-40B4-BE49-F238E27FC236}">
                <a16:creationId xmlns:a16="http://schemas.microsoft.com/office/drawing/2014/main" id="{23B8929C-9A2A-4ABE-BE7D-12E77BF618CB}"/>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Problēma tika pārvērsta regresijas pārbaudē</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2d34705c99c4ef3"/>
          <a:stretch xmlns:a="http://schemas.openxmlformats.org/drawingml/2006/main"/>
        </p:blipFill>
        <p:spPr>
          <a:xfrm xmlns:a="http://schemas.openxmlformats.org/drawingml/2006/main">
            <a:off x="609600" y="2268767"/>
            <a:ext cx="4476750" cy="1158417"/>
          </a:xfrm>
          <a:prstGeom xmlns:a="http://schemas.openxmlformats.org/drawingml/2006/main" prst="roundRect">
            <a:avLst>
              <a:gd name="adj" fmla="val 5319"/>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0d30eeeba0d403f"/>
          <a:stretch xmlns:a="http://schemas.openxmlformats.org/drawingml/2006/main"/>
        </p:blipFill>
        <p:spPr>
          <a:xfrm xmlns:a="http://schemas.openxmlformats.org/drawingml/2006/main">
            <a:off x="615549" y="4000500"/>
            <a:ext cx="4464852" cy="1790700"/>
          </a:xfrm>
          <a:prstGeom xmlns:a="http://schemas.openxmlformats.org/drawingml/2006/main" prst="roundRect">
            <a:avLst>
              <a:gd name="adj" fmla="val 5319"/>
            </a:avLst>
          </a:prstGeom>
        </p:spPr>
      </p:pic>
      <p:sp>
        <p:nvSpPr>
          <p:cNvPr id="5" name="">
            <a:extLst xmlns:a="http://schemas.openxmlformats.org/drawingml/2006/main">
              <a:ext uri="{FF2B5EF4-FFF2-40B4-BE49-F238E27FC236}">
                <a16:creationId xmlns:a16="http://schemas.microsoft.com/office/drawing/2014/main" id="{F12FDC9F-CBEA-4786-8BA5-491902F486A5}"/>
              </a:ext>
            </a:extLst>
          </p:cNvPr>
          <p:cNvSpPr>
            <a:spLocks xmlns:a="http://schemas.openxmlformats.org/drawingml/2006/main" noGrp="1"/>
          </p:cNvSpPr>
          <p:nvPr/>
        </p:nvSpPr>
        <p:spPr>
          <a:xfrm xmlns:a="http://schemas.openxmlformats.org/drawingml/2006/main">
            <a:off x="781050" y="21145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4C95D"/>
                </a:solidFill>
                <a:latin typeface="Arial"/>
                <a:ea typeface="Arial"/>
                <a:cs typeface="Arial"/>
              </a:defRPr>
            </a:pPr>
            <a:r>
              <a:rPr sz="900" b="1">
                <a:solidFill>
                  <a:srgbClr val="F4C95D"/>
                </a:solidFill>
                <a:latin typeface="Arial"/>
                <a:ea typeface="Arial"/>
                <a:cs typeface="Arial"/>
              </a:rPr>
              <a:t>PIRMS</a:t>
            </a:r>
          </a:p>
        </p:txBody>
      </p:sp>
      <p:sp>
        <p:nvSpPr>
          <p:cNvPr id="6" name="">
            <a:extLst xmlns:a="http://schemas.openxmlformats.org/drawingml/2006/main">
              <a:ext uri="{FF2B5EF4-FFF2-40B4-BE49-F238E27FC236}">
                <a16:creationId xmlns:a16="http://schemas.microsoft.com/office/drawing/2014/main" id="{95DB38D9-D21F-4B72-B9DC-2C7B625FCF81}"/>
              </a:ext>
            </a:extLst>
          </p:cNvPr>
          <p:cNvSpPr>
            <a:spLocks xmlns:a="http://schemas.openxmlformats.org/drawingml/2006/main" noGrp="1"/>
          </p:cNvSpPr>
          <p:nvPr/>
        </p:nvSpPr>
        <p:spPr>
          <a:xfrm xmlns:a="http://schemas.openxmlformats.org/drawingml/2006/main">
            <a:off x="781050" y="4162425"/>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8D68D"/>
                </a:solidFill>
                <a:latin typeface="Arial"/>
                <a:ea typeface="Arial"/>
                <a:cs typeface="Arial"/>
              </a:defRPr>
            </a:pPr>
            <a:r>
              <a:rPr sz="900" b="1">
                <a:solidFill>
                  <a:srgbClr val="58D68D"/>
                </a:solidFill>
                <a:latin typeface="Arial"/>
                <a:ea typeface="Arial"/>
                <a:cs typeface="Arial"/>
              </a:rPr>
              <a:t>PĒC</a:t>
            </a:r>
          </a:p>
        </p:txBody>
      </p:sp>
      <p:sp>
        <p:nvSpPr>
          <p:cNvPr id="7" name="">
            <a:extLst xmlns:a="http://schemas.openxmlformats.org/drawingml/2006/main">
              <a:ext uri="{FF2B5EF4-FFF2-40B4-BE49-F238E27FC236}">
                <a16:creationId xmlns:a16="http://schemas.microsoft.com/office/drawing/2014/main" id="{043C3318-18CA-4F8E-A150-A463D358E6B4}"/>
              </a:ext>
            </a:extLst>
          </p:cNvPr>
          <p:cNvSpPr>
            <a:spLocks xmlns:a="http://schemas.openxmlformats.org/drawingml/2006/main" noGrp="1"/>
          </p:cNvSpPr>
          <p:nvPr/>
        </p:nvSpPr>
        <p:spPr>
          <a:xfrm xmlns:a="http://schemas.openxmlformats.org/drawingml/2006/main">
            <a:off x="5734050" y="2095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ED6DA"/>
                </a:solidFill>
                <a:latin typeface="Arial"/>
                <a:ea typeface="Arial"/>
                <a:cs typeface="Arial"/>
              </a:defRPr>
            </a:pPr>
            <a:r>
              <a:rPr sz="1200" b="1">
                <a:solidFill>
                  <a:srgbClr val="6ED6DA"/>
                </a:solidFill>
                <a:latin typeface="Arial"/>
                <a:ea typeface="Arial"/>
                <a:cs typeface="Arial"/>
              </a:rPr>
              <a:t>Netlify build</a:t>
            </a:r>
          </a:p>
        </p:txBody>
      </p:sp>
      <p:sp>
        <p:nvSpPr>
          <p:cNvPr id="8" name="">
            <a:extLst xmlns:a="http://schemas.openxmlformats.org/drawingml/2006/main">
              <a:ext uri="{FF2B5EF4-FFF2-40B4-BE49-F238E27FC236}">
                <a16:creationId xmlns:a16="http://schemas.microsoft.com/office/drawing/2014/main" id="{E4F2AE90-5434-4D32-A273-F3723AA39D59}"/>
              </a:ext>
            </a:extLst>
          </p:cNvPr>
          <p:cNvSpPr>
            <a:spLocks xmlns:a="http://schemas.openxmlformats.org/drawingml/2006/main" noGrp="1"/>
          </p:cNvSpPr>
          <p:nvPr/>
        </p:nvSpPr>
        <p:spPr>
          <a:xfrm xmlns:a="http://schemas.openxmlformats.org/drawingml/2006/main">
            <a:off x="5734050" y="23907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Stale fails `dist` mapē → kontrolēta publicējamā failu kopa.</a:t>
            </a:r>
          </a:p>
        </p:txBody>
      </p:sp>
      <p:sp>
        <p:nvSpPr>
          <p:cNvPr id="9" name="">
            <a:extLst xmlns:a="http://schemas.openxmlformats.org/drawingml/2006/main">
              <a:ext uri="{FF2B5EF4-FFF2-40B4-BE49-F238E27FC236}">
                <a16:creationId xmlns:a16="http://schemas.microsoft.com/office/drawing/2014/main" id="{47EED050-C881-4A8B-B041-0543B745BB83}"/>
              </a:ext>
            </a:extLst>
          </p:cNvPr>
          <p:cNvSpPr>
            <a:spLocks xmlns:a="http://schemas.openxmlformats.org/drawingml/2006/main" noGrp="1"/>
          </p:cNvSpPr>
          <p:nvPr/>
        </p:nvSpPr>
        <p:spPr>
          <a:xfrm xmlns:a="http://schemas.openxmlformats.org/drawingml/2006/main">
            <a:off x="5734050" y="30099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8D68D"/>
                </a:solidFill>
                <a:latin typeface="Arial"/>
                <a:ea typeface="Arial"/>
                <a:cs typeface="Arial"/>
              </a:defRPr>
            </a:pPr>
            <a:r>
              <a:rPr sz="1200" b="1">
                <a:solidFill>
                  <a:srgbClr val="58D68D"/>
                </a:solidFill>
                <a:latin typeface="Arial"/>
                <a:ea typeface="Arial"/>
                <a:cs typeface="Arial"/>
              </a:rPr>
              <a:t>R2 ceļi</a:t>
            </a:r>
          </a:p>
        </p:txBody>
      </p:sp>
      <p:sp>
        <p:nvSpPr>
          <p:cNvPr id="10" name="">
            <a:extLst xmlns:a="http://schemas.openxmlformats.org/drawingml/2006/main">
              <a:ext uri="{FF2B5EF4-FFF2-40B4-BE49-F238E27FC236}">
                <a16:creationId xmlns:a16="http://schemas.microsoft.com/office/drawing/2014/main" id="{4DECEFD1-0174-4DD9-917E-488E0C1E8742}"/>
              </a:ext>
            </a:extLst>
          </p:cNvPr>
          <p:cNvSpPr>
            <a:spLocks xmlns:a="http://schemas.openxmlformats.org/drawingml/2006/main" noGrp="1"/>
          </p:cNvSpPr>
          <p:nvPr/>
        </p:nvSpPr>
        <p:spPr>
          <a:xfrm xmlns:a="http://schemas.openxmlformats.org/drawingml/2006/main">
            <a:off x="5734050" y="33051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Tikai UUID → lasāms nosaukums + nemainīgs ID.</a:t>
            </a:r>
          </a:p>
        </p:txBody>
      </p:sp>
      <p:sp>
        <p:nvSpPr>
          <p:cNvPr id="11" name="">
            <a:extLst xmlns:a="http://schemas.openxmlformats.org/drawingml/2006/main">
              <a:ext uri="{FF2B5EF4-FFF2-40B4-BE49-F238E27FC236}">
                <a16:creationId xmlns:a16="http://schemas.microsoft.com/office/drawing/2014/main" id="{3E042DDF-3CFB-4F95-8DDB-383E3F09992A}"/>
              </a:ext>
            </a:extLst>
          </p:cNvPr>
          <p:cNvSpPr>
            <a:spLocks xmlns:a="http://schemas.openxmlformats.org/drawingml/2006/main" noGrp="1"/>
          </p:cNvSpPr>
          <p:nvPr/>
        </p:nvSpPr>
        <p:spPr>
          <a:xfrm xmlns:a="http://schemas.openxmlformats.org/drawingml/2006/main">
            <a:off x="5734050" y="39243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ED6DA"/>
                </a:solidFill>
                <a:latin typeface="Arial"/>
                <a:ea typeface="Arial"/>
                <a:cs typeface="Arial"/>
              </a:defRPr>
            </a:pPr>
            <a:r>
              <a:rPr sz="1200" b="1">
                <a:solidFill>
                  <a:srgbClr val="6ED6DA"/>
                </a:solidFill>
                <a:latin typeface="Arial"/>
                <a:ea typeface="Arial"/>
                <a:cs typeface="Arial"/>
              </a:rPr>
              <a:t>Mobilā kamera</a:t>
            </a:r>
          </a:p>
        </p:txBody>
      </p:sp>
      <p:sp>
        <p:nvSpPr>
          <p:cNvPr id="12" name="">
            <a:extLst xmlns:a="http://schemas.openxmlformats.org/drawingml/2006/main">
              <a:ext uri="{FF2B5EF4-FFF2-40B4-BE49-F238E27FC236}">
                <a16:creationId xmlns:a16="http://schemas.microsoft.com/office/drawing/2014/main" id="{5CA125E0-9E8D-4405-8883-EE40DA7015FD}"/>
              </a:ext>
            </a:extLst>
          </p:cNvPr>
          <p:cNvSpPr>
            <a:spLocks xmlns:a="http://schemas.openxmlformats.org/drawingml/2006/main" noGrp="1"/>
          </p:cNvSpPr>
          <p:nvPr/>
        </p:nvSpPr>
        <p:spPr>
          <a:xfrm xmlns:a="http://schemas.openxmlformats.org/drawingml/2006/main">
            <a:off x="5734050" y="42195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Klusā atgriešanās → input/change stāvoklis un skaidrs statuss.</a:t>
            </a:r>
          </a:p>
        </p:txBody>
      </p:sp>
      <p:sp>
        <p:nvSpPr>
          <p:cNvPr id="13" name="">
            <a:extLst xmlns:a="http://schemas.openxmlformats.org/drawingml/2006/main">
              <a:ext uri="{FF2B5EF4-FFF2-40B4-BE49-F238E27FC236}">
                <a16:creationId xmlns:a16="http://schemas.microsoft.com/office/drawing/2014/main" id="{F03BC86F-43C6-46A5-AAA5-BE479FD8D289}"/>
              </a:ext>
            </a:extLst>
          </p:cNvPr>
          <p:cNvSpPr>
            <a:spLocks xmlns:a="http://schemas.openxmlformats.org/drawingml/2006/main" noGrp="1"/>
          </p:cNvSpPr>
          <p:nvPr/>
        </p:nvSpPr>
        <p:spPr>
          <a:xfrm xmlns:a="http://schemas.openxmlformats.org/drawingml/2006/main">
            <a:off x="5734050" y="48387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ED6DA"/>
                </a:solidFill>
                <a:latin typeface="Arial"/>
                <a:ea typeface="Arial"/>
                <a:cs typeface="Arial"/>
              </a:defRPr>
            </a:pPr>
            <a:r>
              <a:rPr sz="1200" b="1">
                <a:solidFill>
                  <a:srgbClr val="6ED6DA"/>
                </a:solidFill>
                <a:latin typeface="Arial"/>
                <a:ea typeface="Arial"/>
                <a:cs typeface="Arial"/>
              </a:rPr>
              <a:t>ZIP un galerija</a:t>
            </a:r>
          </a:p>
        </p:txBody>
      </p:sp>
      <p:sp>
        <p:nvSpPr>
          <p:cNvPr id="14" name="">
            <a:extLst xmlns:a="http://schemas.openxmlformats.org/drawingml/2006/main">
              <a:ext uri="{FF2B5EF4-FFF2-40B4-BE49-F238E27FC236}">
                <a16:creationId xmlns:a16="http://schemas.microsoft.com/office/drawing/2014/main" id="{D0533ADE-4378-47D5-8ACF-B9C01B716FCA}"/>
              </a:ext>
            </a:extLst>
          </p:cNvPr>
          <p:cNvSpPr>
            <a:spLocks xmlns:a="http://schemas.openxmlformats.org/drawingml/2006/main" noGrp="1"/>
          </p:cNvSpPr>
          <p:nvPr/>
        </p:nvSpPr>
        <p:spPr>
          <a:xfrm xmlns:a="http://schemas.openxmlformats.org/drawingml/2006/main">
            <a:off x="5734050" y="5133975"/>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7FBF8"/>
                </a:solidFill>
                <a:latin typeface="Arial"/>
                <a:ea typeface="Arial"/>
                <a:cs typeface="Arial"/>
              </a:defRPr>
            </a:pPr>
            <a:r>
              <a:rPr sz="1425" b="1">
                <a:solidFill>
                  <a:srgbClr val="F7FBF8"/>
                </a:solidFill>
                <a:latin typeface="Arial"/>
                <a:ea typeface="Arial"/>
                <a:cs typeface="Arial"/>
              </a:rPr>
              <a:t>Filtrs/stale atbilde → nodalīts eksporta datu konteksts.</a:t>
            </a:r>
          </a:p>
        </p:txBody>
      </p:sp>
      <p:sp>
        <p:nvSpPr>
          <p:cNvPr id="15" name="">
            <a:extLst xmlns:a="http://schemas.openxmlformats.org/drawingml/2006/main">
              <a:ext uri="{FF2B5EF4-FFF2-40B4-BE49-F238E27FC236}">
                <a16:creationId xmlns:a16="http://schemas.microsoft.com/office/drawing/2014/main" id="{18E07E42-9EBA-466F-AE8B-B3BC091C6FBA}"/>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CED3B20-E5B7-4F39-B708-F0683F31AB2D}"/>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17" name="">
            <a:extLst xmlns:a="http://schemas.openxmlformats.org/drawingml/2006/main">
              <a:ext uri="{FF2B5EF4-FFF2-40B4-BE49-F238E27FC236}">
                <a16:creationId xmlns:a16="http://schemas.microsoft.com/office/drawing/2014/main" id="{19F68AA7-C4C7-42CE-82E6-6A6B449EDFF9}"/>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09</a:t>
            </a:r>
          </a:p>
        </p:txBody>
      </p:sp>
    </p:spTree>
    <p:extLst>
      <p:ext uri="{BB962C8B-B14F-4D97-AF65-F5344CB8AC3E}">
        <p14:creationId xmlns:p14="http://schemas.microsoft.com/office/powerpoint/2010/main" val="1300215057"/>
      </p:ext>
    </p:extLst>
  </p:cSld>
</p:sld>
</file>

<file path=ppt/slides/slide10.xml><?xml version="1.0" encoding="utf-8"?>
<p:sld xmlns:p="http://schemas.openxmlformats.org/presentationml/2006/main">
  <p:cSld>
    <p:bg>
      <p:bgPr>
        <a:solidFill xmlns:a="http://schemas.openxmlformats.org/drawingml/2006/main">
          <a:srgbClr val="0B111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FDB27AC-D426-476D-ACAE-8C69DE3A24AD}"/>
              </a:ext>
            </a:extLst>
          </p:cNvPr>
          <p:cNvSpPr>
            <a:spLocks xmlns:a="http://schemas.openxmlformats.org/drawingml/2006/main" noGrp="1"/>
          </p:cNvSpPr>
          <p:nvPr/>
        </p:nvSpPr>
        <p:spPr>
          <a:xfrm xmlns:a="http://schemas.openxmlformats.org/drawingml/2006/main">
            <a:off x="609600" y="361950"/>
            <a:ext cx="514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58D68D"/>
                </a:solidFill>
                <a:latin typeface="Arial"/>
                <a:ea typeface="Arial"/>
                <a:cs typeface="Arial"/>
              </a:defRPr>
            </a:pPr>
            <a:r>
              <a:rPr sz="1050" b="1">
                <a:solidFill>
                  <a:srgbClr val="58D68D"/>
                </a:solidFill>
                <a:latin typeface="Arial"/>
                <a:ea typeface="Arial"/>
                <a:cs typeface="Arial"/>
              </a:rPr>
              <a:t>09 · SECINĀJUMS</a:t>
            </a:r>
          </a:p>
        </p:txBody>
      </p:sp>
      <p:sp>
        <p:nvSpPr>
          <p:cNvPr id="2" name="">
            <a:extLst xmlns:a="http://schemas.openxmlformats.org/drawingml/2006/main">
              <a:ext uri="{FF2B5EF4-FFF2-40B4-BE49-F238E27FC236}">
                <a16:creationId xmlns:a16="http://schemas.microsoft.com/office/drawing/2014/main" id="{701C99B4-9AB1-41A3-ADEF-7484921685EE}"/>
              </a:ext>
            </a:extLst>
          </p:cNvPr>
          <p:cNvSpPr>
            <a:spLocks xmlns:a="http://schemas.openxmlformats.org/drawingml/2006/main" noGrp="1"/>
          </p:cNvSpPr>
          <p:nvPr/>
        </p:nvSpPr>
        <p:spPr>
          <a:xfrm xmlns:a="http://schemas.openxmlformats.org/drawingml/2006/main">
            <a:off x="60960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F7FBF8"/>
                </a:solidFill>
                <a:latin typeface="Arial"/>
                <a:ea typeface="Arial"/>
                <a:cs typeface="Arial"/>
              </a:defRPr>
            </a:pPr>
            <a:r>
              <a:rPr sz="2925" b="1">
                <a:solidFill>
                  <a:srgbClr val="F7FBF8"/>
                </a:solidFill>
                <a:latin typeface="Arial"/>
                <a:ea typeface="Arial"/>
                <a:cs typeface="Arial"/>
              </a:rPr>
              <a:t>MVP pierāda pilnu, drošu foto ceļu</a:t>
            </a:r>
          </a:p>
        </p:txBody>
      </p:sp>
      <p:sp>
        <p:nvSpPr>
          <p:cNvPr id="3" name="">
            <a:extLst xmlns:a="http://schemas.openxmlformats.org/drawingml/2006/main">
              <a:ext uri="{FF2B5EF4-FFF2-40B4-BE49-F238E27FC236}">
                <a16:creationId xmlns:a16="http://schemas.microsoft.com/office/drawing/2014/main" id="{2B4A58F0-A3B8-464B-A6FA-13EAE6C9038E}"/>
              </a:ext>
            </a:extLst>
          </p:cNvPr>
          <p:cNvSpPr>
            <a:spLocks xmlns:a="http://schemas.openxmlformats.org/drawingml/2006/main" noGrp="1"/>
          </p:cNvSpPr>
          <p:nvPr/>
        </p:nvSpPr>
        <p:spPr>
          <a:xfrm xmlns:a="http://schemas.openxmlformats.org/drawingml/2006/main">
            <a:off x="609600" y="13049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AFC0B8"/>
                </a:solidFill>
                <a:latin typeface="Arial"/>
                <a:ea typeface="Arial"/>
                <a:cs typeface="Arial"/>
              </a:defRPr>
            </a:pPr>
            <a:r>
              <a:rPr sz="1425" b="0">
                <a:solidFill>
                  <a:srgbClr val="AFC0B8"/>
                </a:solidFill>
                <a:latin typeface="Arial"/>
                <a:ea typeface="Arial"/>
                <a:cs typeface="Arial"/>
              </a:rPr>
              <a:t>No viesa kameras līdz privātai organizatora galerijai.</a:t>
            </a:r>
          </a:p>
        </p:txBody>
      </p:sp>
      <p:sp>
        <p:nvSpPr>
          <p:cNvPr id="4" name="">
            <a:extLst xmlns:a="http://schemas.openxmlformats.org/drawingml/2006/main">
              <a:ext uri="{FF2B5EF4-FFF2-40B4-BE49-F238E27FC236}">
                <a16:creationId xmlns:a16="http://schemas.microsoft.com/office/drawing/2014/main" id="{72B9945F-1686-41A1-AF2D-AE5919AD47E9}"/>
              </a:ext>
            </a:extLst>
          </p:cNvPr>
          <p:cNvSpPr>
            <a:spLocks xmlns:a="http://schemas.openxmlformats.org/drawingml/2006/main" noGrp="1"/>
          </p:cNvSpPr>
          <p:nvPr/>
        </p:nvSpPr>
        <p:spPr>
          <a:xfrm xmlns:a="http://schemas.openxmlformats.org/drawingml/2006/main">
            <a:off x="609600" y="1981200"/>
            <a:ext cx="7239000" cy="609600"/>
          </a:xfrm>
          <a:prstGeom xmlns:a="http://schemas.openxmlformats.org/drawingml/2006/main" prst="roundRect">
            <a:avLst>
              <a:gd name="adj" fmla="val 12500"/>
            </a:avLst>
          </a:prstGeom>
          <a:solidFill xmlns:a="http://schemas.openxmlformats.org/drawingml/2006/main">
            <a:srgbClr val="121A18"/>
          </a:solidFill>
          <a:ln xmlns:a="http://schemas.openxmlformats.org/drawingml/2006/main" w="9525">
            <a:solidFill>
              <a:srgbClr val="2A3A34"/>
            </a:solidFill>
          </a:ln>
        </p:spPr>
      </p:sp>
      <p:sp>
        <p:nvSpPr>
          <p:cNvPr id="5" name="">
            <a:extLst xmlns:a="http://schemas.openxmlformats.org/drawingml/2006/main">
              <a:ext uri="{FF2B5EF4-FFF2-40B4-BE49-F238E27FC236}">
                <a16:creationId xmlns:a16="http://schemas.microsoft.com/office/drawing/2014/main" id="{45D15E35-9858-4BC9-A39A-580F50247286}"/>
              </a:ext>
            </a:extLst>
          </p:cNvPr>
          <p:cNvSpPr>
            <a:spLocks xmlns:a="http://schemas.openxmlformats.org/drawingml/2006/main" noGrp="1"/>
          </p:cNvSpPr>
          <p:nvPr/>
        </p:nvSpPr>
        <p:spPr>
          <a:xfrm xmlns:a="http://schemas.openxmlformats.org/drawingml/2006/main">
            <a:off x="609600" y="1981200"/>
            <a:ext cx="76200" cy="6096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56EF3BF-439F-45E5-9956-360D30EF7047}"/>
              </a:ext>
            </a:extLst>
          </p:cNvPr>
          <p:cNvSpPr>
            <a:spLocks xmlns:a="http://schemas.openxmlformats.org/drawingml/2006/main" noGrp="1"/>
          </p:cNvSpPr>
          <p:nvPr/>
        </p:nvSpPr>
        <p:spPr>
          <a:xfrm xmlns:a="http://schemas.openxmlformats.org/drawingml/2006/main">
            <a:off x="857250" y="208597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Produkts strādā</a:t>
            </a:r>
          </a:p>
        </p:txBody>
      </p:sp>
      <p:sp>
        <p:nvSpPr>
          <p:cNvPr id="7" name="">
            <a:extLst xmlns:a="http://schemas.openxmlformats.org/drawingml/2006/main">
              <a:ext uri="{FF2B5EF4-FFF2-40B4-BE49-F238E27FC236}">
                <a16:creationId xmlns:a16="http://schemas.microsoft.com/office/drawing/2014/main" id="{E5F418C5-1EC8-40E2-AD29-56C35DFB1079}"/>
              </a:ext>
            </a:extLst>
          </p:cNvPr>
          <p:cNvSpPr>
            <a:spLocks xmlns:a="http://schemas.openxmlformats.org/drawingml/2006/main" noGrp="1"/>
          </p:cNvSpPr>
          <p:nvPr/>
        </p:nvSpPr>
        <p:spPr>
          <a:xfrm xmlns:a="http://schemas.openxmlformats.org/drawingml/2006/main">
            <a:off x="3524250" y="2085975"/>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Register, events, QR, upload, gallery, delete un ZIP.</a:t>
            </a:r>
          </a:p>
        </p:txBody>
      </p:sp>
      <p:sp>
        <p:nvSpPr>
          <p:cNvPr id="8" name="">
            <a:extLst xmlns:a="http://schemas.openxmlformats.org/drawingml/2006/main">
              <a:ext uri="{FF2B5EF4-FFF2-40B4-BE49-F238E27FC236}">
                <a16:creationId xmlns:a16="http://schemas.microsoft.com/office/drawing/2014/main" id="{C8EEACE4-4C09-4AAC-A264-FC0D8C50529E}"/>
              </a:ext>
            </a:extLst>
          </p:cNvPr>
          <p:cNvSpPr>
            <a:spLocks xmlns:a="http://schemas.openxmlformats.org/drawingml/2006/main" noGrp="1"/>
          </p:cNvSpPr>
          <p:nvPr/>
        </p:nvSpPr>
        <p:spPr>
          <a:xfrm xmlns:a="http://schemas.openxmlformats.org/drawingml/2006/main">
            <a:off x="609600" y="2800350"/>
            <a:ext cx="7239000" cy="609600"/>
          </a:xfrm>
          <a:prstGeom xmlns:a="http://schemas.openxmlformats.org/drawingml/2006/main" prst="roundRect">
            <a:avLst>
              <a:gd name="adj" fmla="val 12500"/>
            </a:avLst>
          </a:prstGeom>
          <a:solidFill xmlns:a="http://schemas.openxmlformats.org/drawingml/2006/main">
            <a:srgbClr val="121A18"/>
          </a:solidFill>
          <a:ln xmlns:a="http://schemas.openxmlformats.org/drawingml/2006/main" w="9525">
            <a:solidFill>
              <a:srgbClr val="2A3A34"/>
            </a:solidFill>
          </a:ln>
        </p:spPr>
      </p:sp>
      <p:sp>
        <p:nvSpPr>
          <p:cNvPr id="9" name="">
            <a:extLst xmlns:a="http://schemas.openxmlformats.org/drawingml/2006/main">
              <a:ext uri="{FF2B5EF4-FFF2-40B4-BE49-F238E27FC236}">
                <a16:creationId xmlns:a16="http://schemas.microsoft.com/office/drawing/2014/main" id="{D7447DBA-726B-45ED-809D-13A788EE191D}"/>
              </a:ext>
            </a:extLst>
          </p:cNvPr>
          <p:cNvSpPr>
            <a:spLocks xmlns:a="http://schemas.openxmlformats.org/drawingml/2006/main" noGrp="1"/>
          </p:cNvSpPr>
          <p:nvPr/>
        </p:nvSpPr>
        <p:spPr>
          <a:xfrm xmlns:a="http://schemas.openxmlformats.org/drawingml/2006/main">
            <a:off x="609600" y="2800350"/>
            <a:ext cx="76200" cy="609600"/>
          </a:xfrm>
          <a:prstGeom xmlns:a="http://schemas.openxmlformats.org/drawingml/2006/main" prst="roundRect">
            <a:avLst>
              <a:gd name="adj" fmla="val 50000"/>
            </a:avLst>
          </a:prstGeom>
          <a:solidFill xmlns:a="http://schemas.openxmlformats.org/drawingml/2006/main">
            <a:srgbClr val="6ED6D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2BF42A0-74A2-4FD7-B3A5-CDEF82290B83}"/>
              </a:ext>
            </a:extLst>
          </p:cNvPr>
          <p:cNvSpPr>
            <a:spLocks xmlns:a="http://schemas.openxmlformats.org/drawingml/2006/main" noGrp="1"/>
          </p:cNvSpPr>
          <p:nvPr/>
        </p:nvSpPr>
        <p:spPr>
          <a:xfrm xmlns:a="http://schemas.openxmlformats.org/drawingml/2006/main">
            <a:off x="857250" y="290512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Piekļuve ir kontrolēta</a:t>
            </a:r>
          </a:p>
        </p:txBody>
      </p:sp>
      <p:sp>
        <p:nvSpPr>
          <p:cNvPr id="11" name="">
            <a:extLst xmlns:a="http://schemas.openxmlformats.org/drawingml/2006/main">
              <a:ext uri="{FF2B5EF4-FFF2-40B4-BE49-F238E27FC236}">
                <a16:creationId xmlns:a16="http://schemas.microsoft.com/office/drawing/2014/main" id="{19301EF0-21C9-4290-B1C3-3DF134906C9B}"/>
              </a:ext>
            </a:extLst>
          </p:cNvPr>
          <p:cNvSpPr>
            <a:spLocks xmlns:a="http://schemas.openxmlformats.org/drawingml/2006/main" noGrp="1"/>
          </p:cNvSpPr>
          <p:nvPr/>
        </p:nvSpPr>
        <p:spPr>
          <a:xfrm xmlns:a="http://schemas.openxmlformats.org/drawingml/2006/main">
            <a:off x="3524250" y="2905125"/>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JWT, RLS, Worker un privāts R2 bucket.</a:t>
            </a:r>
          </a:p>
        </p:txBody>
      </p:sp>
      <p:sp>
        <p:nvSpPr>
          <p:cNvPr id="12" name="">
            <a:extLst xmlns:a="http://schemas.openxmlformats.org/drawingml/2006/main">
              <a:ext uri="{FF2B5EF4-FFF2-40B4-BE49-F238E27FC236}">
                <a16:creationId xmlns:a16="http://schemas.microsoft.com/office/drawing/2014/main" id="{4BB49447-DB52-459E-8822-503A6AD75AF9}"/>
              </a:ext>
            </a:extLst>
          </p:cNvPr>
          <p:cNvSpPr>
            <a:spLocks xmlns:a="http://schemas.openxmlformats.org/drawingml/2006/main" noGrp="1"/>
          </p:cNvSpPr>
          <p:nvPr/>
        </p:nvSpPr>
        <p:spPr>
          <a:xfrm xmlns:a="http://schemas.openxmlformats.org/drawingml/2006/main">
            <a:off x="609600" y="3619500"/>
            <a:ext cx="7239000" cy="609600"/>
          </a:xfrm>
          <a:prstGeom xmlns:a="http://schemas.openxmlformats.org/drawingml/2006/main" prst="roundRect">
            <a:avLst>
              <a:gd name="adj" fmla="val 12500"/>
            </a:avLst>
          </a:prstGeom>
          <a:solidFill xmlns:a="http://schemas.openxmlformats.org/drawingml/2006/main">
            <a:srgbClr val="121A18"/>
          </a:solidFill>
          <a:ln xmlns:a="http://schemas.openxmlformats.org/drawingml/2006/main" w="9525">
            <a:solidFill>
              <a:srgbClr val="2A3A34"/>
            </a:solidFill>
          </a:ln>
        </p:spPr>
      </p:sp>
      <p:sp>
        <p:nvSpPr>
          <p:cNvPr id="13" name="">
            <a:extLst xmlns:a="http://schemas.openxmlformats.org/drawingml/2006/main">
              <a:ext uri="{FF2B5EF4-FFF2-40B4-BE49-F238E27FC236}">
                <a16:creationId xmlns:a16="http://schemas.microsoft.com/office/drawing/2014/main" id="{08CEC4BF-3182-4013-A5AB-9949F1FAA175}"/>
              </a:ext>
            </a:extLst>
          </p:cNvPr>
          <p:cNvSpPr>
            <a:spLocks xmlns:a="http://schemas.openxmlformats.org/drawingml/2006/main" noGrp="1"/>
          </p:cNvSpPr>
          <p:nvPr/>
        </p:nvSpPr>
        <p:spPr>
          <a:xfrm xmlns:a="http://schemas.openxmlformats.org/drawingml/2006/main">
            <a:off x="609600" y="3619500"/>
            <a:ext cx="76200" cy="6096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9EDFA80-4CE6-4D3C-AEFC-8FAEF09220DE}"/>
              </a:ext>
            </a:extLst>
          </p:cNvPr>
          <p:cNvSpPr>
            <a:spLocks xmlns:a="http://schemas.openxmlformats.org/drawingml/2006/main" noGrp="1"/>
          </p:cNvSpPr>
          <p:nvPr/>
        </p:nvSpPr>
        <p:spPr>
          <a:xfrm xmlns:a="http://schemas.openxmlformats.org/drawingml/2006/main">
            <a:off x="857250" y="372427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Mobilā plūsma pārbaudīta</a:t>
            </a:r>
          </a:p>
        </p:txBody>
      </p:sp>
      <p:sp>
        <p:nvSpPr>
          <p:cNvPr id="15" name="">
            <a:extLst xmlns:a="http://schemas.openxmlformats.org/drawingml/2006/main">
              <a:ext uri="{FF2B5EF4-FFF2-40B4-BE49-F238E27FC236}">
                <a16:creationId xmlns:a16="http://schemas.microsoft.com/office/drawing/2014/main" id="{7362770E-6F23-4660-9B9E-0A9ADBA7CBBE}"/>
              </a:ext>
            </a:extLst>
          </p:cNvPr>
          <p:cNvSpPr>
            <a:spLocks xmlns:a="http://schemas.openxmlformats.org/drawingml/2006/main" noGrp="1"/>
          </p:cNvSpPr>
          <p:nvPr/>
        </p:nvSpPr>
        <p:spPr>
          <a:xfrm xmlns:a="http://schemas.openxmlformats.org/drawingml/2006/main">
            <a:off x="3524250" y="3724275"/>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iPhone 13 Pro un Samsung Galaxy S23.</a:t>
            </a:r>
          </a:p>
        </p:txBody>
      </p:sp>
      <p:sp>
        <p:nvSpPr>
          <p:cNvPr id="16" name="">
            <a:extLst xmlns:a="http://schemas.openxmlformats.org/drawingml/2006/main">
              <a:ext uri="{FF2B5EF4-FFF2-40B4-BE49-F238E27FC236}">
                <a16:creationId xmlns:a16="http://schemas.microsoft.com/office/drawing/2014/main" id="{426C64F1-CE1D-493F-8C01-83AF29D11D49}"/>
              </a:ext>
            </a:extLst>
          </p:cNvPr>
          <p:cNvSpPr>
            <a:spLocks xmlns:a="http://schemas.openxmlformats.org/drawingml/2006/main" noGrp="1"/>
          </p:cNvSpPr>
          <p:nvPr/>
        </p:nvSpPr>
        <p:spPr>
          <a:xfrm xmlns:a="http://schemas.openxmlformats.org/drawingml/2006/main">
            <a:off x="609600" y="4438650"/>
            <a:ext cx="7239000" cy="609600"/>
          </a:xfrm>
          <a:prstGeom xmlns:a="http://schemas.openxmlformats.org/drawingml/2006/main" prst="roundRect">
            <a:avLst>
              <a:gd name="adj" fmla="val 12500"/>
            </a:avLst>
          </a:prstGeom>
          <a:solidFill xmlns:a="http://schemas.openxmlformats.org/drawingml/2006/main">
            <a:srgbClr val="121A18"/>
          </a:solidFill>
          <a:ln xmlns:a="http://schemas.openxmlformats.org/drawingml/2006/main" w="9525">
            <a:solidFill>
              <a:srgbClr val="2A3A34"/>
            </a:solidFill>
          </a:ln>
        </p:spPr>
      </p:sp>
      <p:sp>
        <p:nvSpPr>
          <p:cNvPr id="17" name="">
            <a:extLst xmlns:a="http://schemas.openxmlformats.org/drawingml/2006/main">
              <a:ext uri="{FF2B5EF4-FFF2-40B4-BE49-F238E27FC236}">
                <a16:creationId xmlns:a16="http://schemas.microsoft.com/office/drawing/2014/main" id="{211415D1-34DF-47ED-B625-E2332223ED1A}"/>
              </a:ext>
            </a:extLst>
          </p:cNvPr>
          <p:cNvSpPr>
            <a:spLocks xmlns:a="http://schemas.openxmlformats.org/drawingml/2006/main" noGrp="1"/>
          </p:cNvSpPr>
          <p:nvPr/>
        </p:nvSpPr>
        <p:spPr>
          <a:xfrm xmlns:a="http://schemas.openxmlformats.org/drawingml/2006/main">
            <a:off x="609600" y="4438650"/>
            <a:ext cx="76200" cy="609600"/>
          </a:xfrm>
          <a:prstGeom xmlns:a="http://schemas.openxmlformats.org/drawingml/2006/main" prst="roundRect">
            <a:avLst>
              <a:gd name="adj" fmla="val 50000"/>
            </a:avLst>
          </a:prstGeom>
          <a:solidFill xmlns:a="http://schemas.openxmlformats.org/drawingml/2006/main">
            <a:srgbClr val="58D68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F2EA03-09F5-4E6A-AE47-003865C9A235}"/>
              </a:ext>
            </a:extLst>
          </p:cNvPr>
          <p:cNvSpPr>
            <a:spLocks xmlns:a="http://schemas.openxmlformats.org/drawingml/2006/main" noGrp="1"/>
          </p:cNvSpPr>
          <p:nvPr/>
        </p:nvSpPr>
        <p:spPr>
          <a:xfrm xmlns:a="http://schemas.openxmlformats.org/drawingml/2006/main">
            <a:off x="857250" y="454342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7FBF8"/>
                </a:solidFill>
                <a:latin typeface="Arial"/>
                <a:ea typeface="Arial"/>
                <a:cs typeface="Arial"/>
              </a:defRPr>
            </a:pPr>
            <a:r>
              <a:rPr sz="1350" b="1">
                <a:solidFill>
                  <a:srgbClr val="F7FBF8"/>
                </a:solidFill>
                <a:latin typeface="Arial"/>
                <a:ea typeface="Arial"/>
                <a:cs typeface="Arial"/>
              </a:rPr>
              <a:t>Kods ir turpināms</a:t>
            </a:r>
          </a:p>
        </p:txBody>
      </p:sp>
      <p:sp>
        <p:nvSpPr>
          <p:cNvPr id="19" name="">
            <a:extLst xmlns:a="http://schemas.openxmlformats.org/drawingml/2006/main">
              <a:ext uri="{FF2B5EF4-FFF2-40B4-BE49-F238E27FC236}">
                <a16:creationId xmlns:a16="http://schemas.microsoft.com/office/drawing/2014/main" id="{38BDE8C5-15F4-49D9-BC57-D38EC2C7C1DF}"/>
              </a:ext>
            </a:extLst>
          </p:cNvPr>
          <p:cNvSpPr>
            <a:spLocks xmlns:a="http://schemas.openxmlformats.org/drawingml/2006/main" noGrp="1"/>
          </p:cNvSpPr>
          <p:nvPr/>
        </p:nvSpPr>
        <p:spPr>
          <a:xfrm xmlns:a="http://schemas.openxmlformats.org/drawingml/2006/main">
            <a:off x="3524250" y="4543425"/>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FC0B8"/>
                </a:solidFill>
                <a:latin typeface="Arial"/>
                <a:ea typeface="Arial"/>
                <a:cs typeface="Arial"/>
              </a:defRPr>
            </a:pPr>
            <a:r>
              <a:rPr sz="1275" b="1">
                <a:solidFill>
                  <a:srgbClr val="AFC0B8"/>
                </a:solidFill>
                <a:latin typeface="Arial"/>
                <a:ea typeface="Arial"/>
                <a:cs typeface="Arial"/>
              </a:rPr>
              <a:t>Migrācijas, testi, dokumentācija un skaidras robežas.</a:t>
            </a:r>
          </a:p>
        </p:txBody>
      </p:sp>
      <p:sp>
        <p:nvSpPr>
          <p:cNvPr id="20" name="">
            <a:extLst xmlns:a="http://schemas.openxmlformats.org/drawingml/2006/main">
              <a:ext uri="{FF2B5EF4-FFF2-40B4-BE49-F238E27FC236}">
                <a16:creationId xmlns:a16="http://schemas.microsoft.com/office/drawing/2014/main" id="{018C39EF-E812-40A5-A4EA-C245486A274B}"/>
              </a:ext>
            </a:extLst>
          </p:cNvPr>
          <p:cNvSpPr>
            <a:spLocks xmlns:a="http://schemas.openxmlformats.org/drawingml/2006/main" noGrp="1"/>
          </p:cNvSpPr>
          <p:nvPr/>
        </p:nvSpPr>
        <p:spPr>
          <a:xfrm xmlns:a="http://schemas.openxmlformats.org/drawingml/2006/main">
            <a:off x="8439150" y="1981200"/>
            <a:ext cx="2838450" cy="3067050"/>
          </a:xfrm>
          <a:prstGeom xmlns:a="http://schemas.openxmlformats.org/drawingml/2006/main" prst="roundRect">
            <a:avLst>
              <a:gd name="adj" fmla="val 4027"/>
            </a:avLst>
          </a:prstGeom>
          <a:solidFill xmlns:a="http://schemas.openxmlformats.org/drawingml/2006/main">
            <a:srgbClr val="B8F2D1"/>
          </a:solidFill>
          <a:ln xmlns:a="http://schemas.openxmlformats.org/drawingml/2006/main" w="9525">
            <a:solidFill>
              <a:srgbClr val="B8F2D1"/>
            </a:solidFill>
          </a:ln>
        </p:spPr>
      </p:sp>
      <p:sp>
        <p:nvSpPr>
          <p:cNvPr id="21" name="">
            <a:extLst xmlns:a="http://schemas.openxmlformats.org/drawingml/2006/main">
              <a:ext uri="{FF2B5EF4-FFF2-40B4-BE49-F238E27FC236}">
                <a16:creationId xmlns:a16="http://schemas.microsoft.com/office/drawing/2014/main" id="{82F16BD4-41EC-49BE-BB74-670C1C4D2A44}"/>
              </a:ext>
            </a:extLst>
          </p:cNvPr>
          <p:cNvSpPr>
            <a:spLocks xmlns:a="http://schemas.openxmlformats.org/drawingml/2006/main" noGrp="1"/>
          </p:cNvSpPr>
          <p:nvPr/>
        </p:nvSpPr>
        <p:spPr>
          <a:xfrm xmlns:a="http://schemas.openxmlformats.org/drawingml/2006/main">
            <a:off x="8724900" y="232410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0B1110"/>
                </a:solidFill>
                <a:latin typeface="Arial"/>
                <a:ea typeface="Arial"/>
                <a:cs typeface="Arial"/>
              </a:defRPr>
            </a:pPr>
            <a:r>
              <a:rPr sz="1350" b="1">
                <a:solidFill>
                  <a:srgbClr val="0B1110"/>
                </a:solidFill>
                <a:latin typeface="Arial"/>
                <a:ea typeface="Arial"/>
                <a:cs typeface="Arial"/>
              </a:rPr>
              <a:t>JAUTĀJUMI?</a:t>
            </a:r>
          </a:p>
        </p:txBody>
      </p:sp>
      <p:sp>
        <p:nvSpPr>
          <p:cNvPr id="22" name="">
            <a:extLst xmlns:a="http://schemas.openxmlformats.org/drawingml/2006/main">
              <a:ext uri="{FF2B5EF4-FFF2-40B4-BE49-F238E27FC236}">
                <a16:creationId xmlns:a16="http://schemas.microsoft.com/office/drawing/2014/main" id="{86F1531C-9ABE-4DE3-AF0F-8D115527AA68}"/>
              </a:ext>
            </a:extLst>
          </p:cNvPr>
          <p:cNvSpPr>
            <a:spLocks xmlns:a="http://schemas.openxmlformats.org/drawingml/2006/main" noGrp="1"/>
          </p:cNvSpPr>
          <p:nvPr/>
        </p:nvSpPr>
        <p:spPr>
          <a:xfrm xmlns:a="http://schemas.openxmlformats.org/drawingml/2006/main">
            <a:off x="8724900" y="2952750"/>
            <a:ext cx="22669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9120"/>
          </a:bodyPr>
          <a:lstStyle xmlns:a="http://schemas.openxmlformats.org/drawingml/2006/main"/>
          <a:p xmlns:a="http://schemas.openxmlformats.org/drawingml/2006/main">
            <a:pPr algn="ctr">
              <a:defRPr sz="1800" b="1">
                <a:solidFill>
                  <a:srgbClr val="0B1110"/>
                </a:solidFill>
                <a:latin typeface="Arial"/>
                <a:ea typeface="Arial"/>
                <a:cs typeface="Arial"/>
              </a:defRPr>
            </a:pPr>
            <a:r>
              <a:rPr sz="1800" b="1">
                <a:solidFill>
                  <a:srgbClr val="0B1110"/>
                </a:solidFill>
                <a:latin typeface="Arial"/>
                <a:ea typeface="Arial"/>
                <a:cs typeface="Arial"/>
              </a:rPr>
              <a:t>Varu izskaidrot arhitektūru, RLS, presigned upload, foto stāvokļus, laika zonas, retry, ZIP un testēšanas robežas.</a:t>
            </a:r>
          </a:p>
        </p:txBody>
      </p:sp>
      <p:sp>
        <p:nvSpPr>
          <p:cNvPr id="23" name="">
            <a:extLst xmlns:a="http://schemas.openxmlformats.org/drawingml/2006/main">
              <a:ext uri="{FF2B5EF4-FFF2-40B4-BE49-F238E27FC236}">
                <a16:creationId xmlns:a16="http://schemas.microsoft.com/office/drawing/2014/main" id="{4C3041E1-4BA0-4F56-B820-F3EC0D50E563}"/>
              </a:ext>
            </a:extLst>
          </p:cNvPr>
          <p:cNvSpPr>
            <a:spLocks xmlns:a="http://schemas.openxmlformats.org/drawingml/2006/main" noGrp="1"/>
          </p:cNvSpPr>
          <p:nvPr/>
        </p:nvSpPr>
        <p:spPr>
          <a:xfrm xmlns:a="http://schemas.openxmlformats.org/drawingml/2006/main">
            <a:off x="8896350" y="5295900"/>
            <a:ext cx="1924050" cy="323850"/>
          </a:xfrm>
          <a:prstGeom xmlns:a="http://schemas.openxmlformats.org/drawingml/2006/main" prst="roundRect">
            <a:avLst>
              <a:gd name="adj" fmla="val 50000"/>
            </a:avLst>
          </a:prstGeom>
          <a:solidFill xmlns:a="http://schemas.openxmlformats.org/drawingml/2006/main">
            <a:srgbClr val="18231F"/>
          </a:solidFill>
          <a:ln xmlns:a="http://schemas.openxmlformats.org/drawingml/2006/main" w="9525">
            <a:solidFill>
              <a:srgbClr val="2A3A34"/>
            </a:solidFill>
          </a:ln>
        </p:spPr>
      </p:sp>
      <p:sp>
        <p:nvSpPr>
          <p:cNvPr id="24" name="">
            <a:extLst xmlns:a="http://schemas.openxmlformats.org/drawingml/2006/main">
              <a:ext uri="{FF2B5EF4-FFF2-40B4-BE49-F238E27FC236}">
                <a16:creationId xmlns:a16="http://schemas.microsoft.com/office/drawing/2014/main" id="{23FC257A-8590-44A2-A1AE-6ECDB9FF5D70}"/>
              </a:ext>
            </a:extLst>
          </p:cNvPr>
          <p:cNvSpPr>
            <a:spLocks xmlns:a="http://schemas.openxmlformats.org/drawingml/2006/main" noGrp="1"/>
          </p:cNvSpPr>
          <p:nvPr/>
        </p:nvSpPr>
        <p:spPr>
          <a:xfrm xmlns:a="http://schemas.openxmlformats.org/drawingml/2006/main">
            <a:off x="8991600" y="5362575"/>
            <a:ext cx="1733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B8F2D1"/>
                </a:solidFill>
                <a:latin typeface="Arial"/>
                <a:ea typeface="Arial"/>
                <a:cs typeface="Arial"/>
              </a:defRPr>
            </a:pPr>
            <a:r>
              <a:rPr sz="975" b="1">
                <a:solidFill>
                  <a:srgbClr val="B8F2D1"/>
                </a:solidFill>
                <a:latin typeface="Arial"/>
                <a:ea typeface="Arial"/>
                <a:cs typeface="Arial"/>
              </a:rPr>
              <a:t>PHOTO-ONLY MVP</a:t>
            </a:r>
          </a:p>
        </p:txBody>
      </p:sp>
      <p:sp>
        <p:nvSpPr>
          <p:cNvPr id="25" name="">
            <a:extLst xmlns:a="http://schemas.openxmlformats.org/drawingml/2006/main">
              <a:ext uri="{FF2B5EF4-FFF2-40B4-BE49-F238E27FC236}">
                <a16:creationId xmlns:a16="http://schemas.microsoft.com/office/drawing/2014/main" id="{AE5164E3-11BD-4717-9693-ECC1CD475D2A}"/>
              </a:ext>
            </a:extLst>
          </p:cNvPr>
          <p:cNvSpPr>
            <a:spLocks xmlns:a="http://schemas.openxmlformats.org/drawingml/2006/main" noGrp="1"/>
          </p:cNvSpPr>
          <p:nvPr/>
        </p:nvSpPr>
        <p:spPr>
          <a:xfrm xmlns:a="http://schemas.openxmlformats.org/drawingml/2006/main">
            <a:off x="609600" y="6486525"/>
            <a:ext cx="10972800" cy="9525"/>
          </a:xfrm>
          <a:prstGeom xmlns:a="http://schemas.openxmlformats.org/drawingml/2006/main" prst="rect">
            <a:avLst/>
          </a:prstGeom>
          <a:solidFill xmlns:a="http://schemas.openxmlformats.org/drawingml/2006/main">
            <a:srgbClr val="2A3A3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1A37136-D61B-4EB7-A716-E5342D1E3FC6}"/>
              </a:ext>
            </a:extLst>
          </p:cNvPr>
          <p:cNvSpPr>
            <a:spLocks xmlns:a="http://schemas.openxmlformats.org/drawingml/2006/main" noGrp="1"/>
          </p:cNvSpPr>
          <p:nvPr/>
        </p:nvSpPr>
        <p:spPr>
          <a:xfrm xmlns:a="http://schemas.openxmlformats.org/drawingml/2006/main">
            <a:off x="609600" y="6562725"/>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AFC0B8"/>
                </a:solidFill>
                <a:latin typeface="Arial"/>
                <a:ea typeface="Arial"/>
                <a:cs typeface="Arial"/>
              </a:defRPr>
            </a:pPr>
            <a:r>
              <a:rPr sz="825" b="1">
                <a:solidFill>
                  <a:srgbClr val="AFC0B8"/>
                </a:solidFill>
                <a:latin typeface="Arial"/>
                <a:ea typeface="Arial"/>
                <a:cs typeface="Arial"/>
              </a:rPr>
              <a:t>EVENT PHOTO SAAS · PRAKSES DARBS</a:t>
            </a:r>
          </a:p>
        </p:txBody>
      </p:sp>
      <p:sp>
        <p:nvSpPr>
          <p:cNvPr id="27" name="">
            <a:extLst xmlns:a="http://schemas.openxmlformats.org/drawingml/2006/main">
              <a:ext uri="{FF2B5EF4-FFF2-40B4-BE49-F238E27FC236}">
                <a16:creationId xmlns:a16="http://schemas.microsoft.com/office/drawing/2014/main" id="{2AAE2ADC-B5FC-4377-93A3-1A6BA1DE44F8}"/>
              </a:ext>
            </a:extLst>
          </p:cNvPr>
          <p:cNvSpPr>
            <a:spLocks xmlns:a="http://schemas.openxmlformats.org/drawingml/2006/main" noGrp="1"/>
          </p:cNvSpPr>
          <p:nvPr/>
        </p:nvSpPr>
        <p:spPr>
          <a:xfrm xmlns:a="http://schemas.openxmlformats.org/drawingml/2006/main">
            <a:off x="11049000" y="6543675"/>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AFC0B8"/>
                </a:solidFill>
                <a:latin typeface="Arial"/>
                <a:ea typeface="Arial"/>
                <a:cs typeface="Arial"/>
              </a:defRPr>
            </a:pPr>
            <a:r>
              <a:rPr sz="900" b="1">
                <a:solidFill>
                  <a:srgbClr val="AFC0B8"/>
                </a:solidFill>
                <a:latin typeface="Arial"/>
                <a:ea typeface="Arial"/>
                <a:cs typeface="Arial"/>
              </a:rPr>
              <a:t>10</a:t>
            </a:r>
          </a:p>
        </p:txBody>
      </p:sp>
    </p:spTree>
    <p:extLst>
      <p:ext uri="{BB962C8B-B14F-4D97-AF65-F5344CB8AC3E}">
        <p14:creationId xmlns:p14="http://schemas.microsoft.com/office/powerpoint/2010/main" val="2003263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2026-09-17T14:22:37.1940000Z</dcterms:created>
  <dcterms:modified xsi:type="dcterms:W3CDTF">2026-09-17T14:22:37.1950000Z</dcterms:modified>
</coreProperties>
</file>